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baaf218cbf4480" /><Relationship Type="http://schemas.openxmlformats.org/officeDocument/2006/relationships/extended-properties" Target="/docProps/app.xml" Id="Rb2ba8796ae314f0b" /><Relationship Type="http://schemas.openxmlformats.org/officeDocument/2006/relationships/officeDocument" Target="/ppt/presentation.xml" Id="Rab91de3e027e41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d991bee92a4a31"/>
  </p:sldMasterIdLst>
  <p:notesMasterIdLst>
    <p:notesMasterId xmlns:r="http://schemas.openxmlformats.org/officeDocument/2006/relationships" r:id="Rf99d9029a3734673"/>
  </p:notesMasterIdLst>
  <p:sldIdLst>
    <p:sldId xmlns:r="http://schemas.openxmlformats.org/officeDocument/2006/relationships" id="256" r:id="Rbda9d4b9580949e6"/>
    <p:sldId xmlns:r="http://schemas.openxmlformats.org/officeDocument/2006/relationships" id="257" r:id="R34a60525b9c14aad"/>
    <p:sldId xmlns:r="http://schemas.openxmlformats.org/officeDocument/2006/relationships" id="258" r:id="Refbdb2950c844d7f"/>
    <p:sldId xmlns:r="http://schemas.openxmlformats.org/officeDocument/2006/relationships" id="259" r:id="R8b276b1db8c24319"/>
    <p:sldId xmlns:r="http://schemas.openxmlformats.org/officeDocument/2006/relationships" id="260" r:id="R074e6eab67cc4744"/>
    <p:sldId xmlns:r="http://schemas.openxmlformats.org/officeDocument/2006/relationships" id="261" r:id="R266a440686694de3"/>
    <p:sldId xmlns:r="http://schemas.openxmlformats.org/officeDocument/2006/relationships" id="262" r:id="Rfaf615fb73924452"/>
    <p:sldId xmlns:r="http://schemas.openxmlformats.org/officeDocument/2006/relationships" id="263" r:id="R465ed9f394384843"/>
    <p:sldId xmlns:r="http://schemas.openxmlformats.org/officeDocument/2006/relationships" id="264" r:id="Rd9749b4a6a674d69"/>
    <p:sldId xmlns:r="http://schemas.openxmlformats.org/officeDocument/2006/relationships" id="265" r:id="R422507f24d354e92"/>
    <p:sldId xmlns:r="http://schemas.openxmlformats.org/officeDocument/2006/relationships" id="266" r:id="R6ad8f0d20c984810"/>
    <p:sldId xmlns:r="http://schemas.openxmlformats.org/officeDocument/2006/relationships" id="267" r:id="R95a141a5fa3a42ad"/>
    <p:sldId xmlns:r="http://schemas.openxmlformats.org/officeDocument/2006/relationships" id="268" r:id="R97ca03b9f73c4553"/>
    <p:sldId xmlns:r="http://schemas.openxmlformats.org/officeDocument/2006/relationships" id="269" r:id="R1b4c6bfb8f754cd5"/>
    <p:sldId xmlns:r="http://schemas.openxmlformats.org/officeDocument/2006/relationships" id="270" r:id="Rc3950cef00fe4254"/>
    <p:sldId xmlns:r="http://schemas.openxmlformats.org/officeDocument/2006/relationships" id="271" r:id="R2cc42e47525b4557"/>
    <p:sldId xmlns:r="http://schemas.openxmlformats.org/officeDocument/2006/relationships" id="272" r:id="R223667a775424d0d"/>
    <p:sldId xmlns:r="http://schemas.openxmlformats.org/officeDocument/2006/relationships" id="273" r:id="R975f2e3becef416b"/>
    <p:sldId xmlns:r="http://schemas.openxmlformats.org/officeDocument/2006/relationships" id="274" r:id="Rd3b3b867bb674ecc"/>
    <p:sldId xmlns:r="http://schemas.openxmlformats.org/officeDocument/2006/relationships" id="275" r:id="R230acccce53c44a3"/>
    <p:sldId xmlns:r="http://schemas.openxmlformats.org/officeDocument/2006/relationships" id="276" r:id="R9b6238c90219456b"/>
    <p:sldId xmlns:r="http://schemas.openxmlformats.org/officeDocument/2006/relationships" id="277" r:id="Rc40397efb14b4f17"/>
    <p:sldId xmlns:r="http://schemas.openxmlformats.org/officeDocument/2006/relationships" id="278" r:id="R34812fe6cf804ac9"/>
    <p:sldId xmlns:r="http://schemas.openxmlformats.org/officeDocument/2006/relationships" id="279" r:id="R3757f84a6def4d9b"/>
    <p:sldId xmlns:r="http://schemas.openxmlformats.org/officeDocument/2006/relationships" id="280" r:id="R5fc8831652394d90"/>
    <p:sldId xmlns:r="http://schemas.openxmlformats.org/officeDocument/2006/relationships" id="281" r:id="R88d8b556ae7e4872"/>
    <p:sldId xmlns:r="http://schemas.openxmlformats.org/officeDocument/2006/relationships" id="282" r:id="R1182ad54fad14665"/>
    <p:sldId xmlns:r="http://schemas.openxmlformats.org/officeDocument/2006/relationships" id="283" r:id="Rf99a38766db34777"/>
    <p:sldId xmlns:r="http://schemas.openxmlformats.org/officeDocument/2006/relationships" id="284" r:id="Rce821c59c4b64dba"/>
    <p:sldId xmlns:r="http://schemas.openxmlformats.org/officeDocument/2006/relationships" id="285" r:id="R87ba9e78c4384f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d8e04c3bab4bca" /><Relationship Type="http://schemas.openxmlformats.org/officeDocument/2006/relationships/slideMaster" Target="/ppt/slideMasters/slideMaster1.xml" Id="R8ad991bee92a4a31" /><Relationship Type="http://schemas.openxmlformats.org/officeDocument/2006/relationships/notesMaster" Target="/ppt/notesMasters/notesMaster1.xml" Id="Rf99d9029a3734673" /><Relationship Type="http://schemas.openxmlformats.org/officeDocument/2006/relationships/presProps" Target="/ppt/presProps.xml" Id="Rf84396a5eff64052" /><Relationship Type="http://schemas.openxmlformats.org/officeDocument/2006/relationships/tableStyles" Target="/ppt/tableStyles.xml" Id="R9ebdada3a3c34e1d" /><Relationship Type="http://schemas.openxmlformats.org/officeDocument/2006/relationships/slide" Target="/ppt/slides/slide1.xml" Id="Rbda9d4b9580949e6" /><Relationship Type="http://schemas.openxmlformats.org/officeDocument/2006/relationships/slide" Target="/ppt/slides/slide2.xml" Id="R34a60525b9c14aad" /><Relationship Type="http://schemas.openxmlformats.org/officeDocument/2006/relationships/slide" Target="/ppt/slides/slide3.xml" Id="Refbdb2950c844d7f" /><Relationship Type="http://schemas.openxmlformats.org/officeDocument/2006/relationships/slide" Target="/ppt/slides/slide4.xml" Id="R8b276b1db8c24319" /><Relationship Type="http://schemas.openxmlformats.org/officeDocument/2006/relationships/slide" Target="/ppt/slides/slide5.xml" Id="R074e6eab67cc4744" /><Relationship Type="http://schemas.openxmlformats.org/officeDocument/2006/relationships/slide" Target="/ppt/slides/slide6.xml" Id="R266a440686694de3" /><Relationship Type="http://schemas.openxmlformats.org/officeDocument/2006/relationships/slide" Target="/ppt/slides/slide7.xml" Id="Rfaf615fb73924452" /><Relationship Type="http://schemas.openxmlformats.org/officeDocument/2006/relationships/slide" Target="/ppt/slides/slide8.xml" Id="R465ed9f394384843" /><Relationship Type="http://schemas.openxmlformats.org/officeDocument/2006/relationships/slide" Target="/ppt/slides/slide9.xml" Id="Rd9749b4a6a674d69" /><Relationship Type="http://schemas.openxmlformats.org/officeDocument/2006/relationships/slide" Target="/ppt/slides/slide10.xml" Id="R422507f24d354e92" /><Relationship Type="http://schemas.openxmlformats.org/officeDocument/2006/relationships/slide" Target="/ppt/slides/slide11.xml" Id="R6ad8f0d20c984810" /><Relationship Type="http://schemas.openxmlformats.org/officeDocument/2006/relationships/slide" Target="/ppt/slides/slide12.xml" Id="R95a141a5fa3a42ad" /><Relationship Type="http://schemas.openxmlformats.org/officeDocument/2006/relationships/slide" Target="/ppt/slides/slide13.xml" Id="R97ca03b9f73c4553" /><Relationship Type="http://schemas.openxmlformats.org/officeDocument/2006/relationships/slide" Target="/ppt/slides/slide14.xml" Id="R1b4c6bfb8f754cd5" /><Relationship Type="http://schemas.openxmlformats.org/officeDocument/2006/relationships/slide" Target="/ppt/slides/slide15.xml" Id="Rc3950cef00fe4254" /><Relationship Type="http://schemas.openxmlformats.org/officeDocument/2006/relationships/slide" Target="/ppt/slides/slide16.xml" Id="R2cc42e47525b4557" /><Relationship Type="http://schemas.openxmlformats.org/officeDocument/2006/relationships/slide" Target="/ppt/slides/slide17.xml" Id="R223667a775424d0d" /><Relationship Type="http://schemas.openxmlformats.org/officeDocument/2006/relationships/slide" Target="/ppt/slides/slide18.xml" Id="R975f2e3becef416b" /><Relationship Type="http://schemas.openxmlformats.org/officeDocument/2006/relationships/slide" Target="/ppt/slides/slide19.xml" Id="Rd3b3b867bb674ecc" /><Relationship Type="http://schemas.openxmlformats.org/officeDocument/2006/relationships/slide" Target="/ppt/slides/slide20.xml" Id="R230acccce53c44a3" /><Relationship Type="http://schemas.openxmlformats.org/officeDocument/2006/relationships/slide" Target="/ppt/slides/slide21.xml" Id="R9b6238c90219456b" /><Relationship Type="http://schemas.openxmlformats.org/officeDocument/2006/relationships/slide" Target="/ppt/slides/slide22.xml" Id="Rc40397efb14b4f17" /><Relationship Type="http://schemas.openxmlformats.org/officeDocument/2006/relationships/slide" Target="/ppt/slides/slide23.xml" Id="R34812fe6cf804ac9" /><Relationship Type="http://schemas.openxmlformats.org/officeDocument/2006/relationships/slide" Target="/ppt/slides/slide24.xml" Id="R3757f84a6def4d9b" /><Relationship Type="http://schemas.openxmlformats.org/officeDocument/2006/relationships/slide" Target="/ppt/slides/slide25.xml" Id="R5fc8831652394d90" /><Relationship Type="http://schemas.openxmlformats.org/officeDocument/2006/relationships/slide" Target="/ppt/slides/slide26.xml" Id="R88d8b556ae7e4872" /><Relationship Type="http://schemas.openxmlformats.org/officeDocument/2006/relationships/slide" Target="/ppt/slides/slide27.xml" Id="R1182ad54fad14665" /><Relationship Type="http://schemas.openxmlformats.org/officeDocument/2006/relationships/slide" Target="/ppt/slides/slide28.xml" Id="Rf99a38766db34777" /><Relationship Type="http://schemas.openxmlformats.org/officeDocument/2006/relationships/slide" Target="/ppt/slides/slide29.xml" Id="Rce821c59c4b64dba" /><Relationship Type="http://schemas.openxmlformats.org/officeDocument/2006/relationships/slide" Target="/ppt/slides/slide30.xml" Id="R87ba9e78c4384f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7b251f20d54a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7a9d0086104861" /><Relationship Type="http://schemas.openxmlformats.org/officeDocument/2006/relationships/notesMaster" Target="/ppt/notesMasters/notesMaster1.xml" Id="Reed83bf1ca174c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e2dd2370f4b91" /><Relationship Type="http://schemas.openxmlformats.org/officeDocument/2006/relationships/notesMaster" Target="/ppt/notesMasters/notesMaster1.xml" Id="R1919102ce2b749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28eab340434e03" /><Relationship Type="http://schemas.openxmlformats.org/officeDocument/2006/relationships/notesMaster" Target="/ppt/notesMasters/notesMaster1.xml" Id="R4cb480bc593246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5b83926a5844a2" /><Relationship Type="http://schemas.openxmlformats.org/officeDocument/2006/relationships/notesMaster" Target="/ppt/notesMasters/notesMaster1.xml" Id="Rdc71ff02222b4c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c43326db2f4d16" /><Relationship Type="http://schemas.openxmlformats.org/officeDocument/2006/relationships/notesMaster" Target="/ppt/notesMasters/notesMaster1.xml" Id="R4bf4066cc18247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26eb3cfe8e4e75" /><Relationship Type="http://schemas.openxmlformats.org/officeDocument/2006/relationships/notesMaster" Target="/ppt/notesMasters/notesMaster1.xml" Id="R205f998754114f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0872e8be41420f" /><Relationship Type="http://schemas.openxmlformats.org/officeDocument/2006/relationships/notesMaster" Target="/ppt/notesMasters/notesMaster1.xml" Id="R2206a8f452ea4c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1291d4a3ab4ce1" /><Relationship Type="http://schemas.openxmlformats.org/officeDocument/2006/relationships/notesMaster" Target="/ppt/notesMasters/notesMaster1.xml" Id="R8f83feac15f540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f05d9a8bb74815" /><Relationship Type="http://schemas.openxmlformats.org/officeDocument/2006/relationships/notesMaster" Target="/ppt/notesMasters/notesMaster1.xml" Id="Rec47c478fc0f4d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52208d5c1243c4" /><Relationship Type="http://schemas.openxmlformats.org/officeDocument/2006/relationships/notesMaster" Target="/ppt/notesMasters/notesMaster1.xml" Id="R6d8f2640a80149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7175d58ca24979" /><Relationship Type="http://schemas.openxmlformats.org/officeDocument/2006/relationships/notesMaster" Target="/ppt/notesMasters/notesMaster1.xml" Id="R9ed601fd363548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4876c97b5a4909" /><Relationship Type="http://schemas.openxmlformats.org/officeDocument/2006/relationships/notesMaster" Target="/ppt/notesMasters/notesMaster1.xml" Id="R65bf22b95a464b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5686fdb99d4e62" /><Relationship Type="http://schemas.openxmlformats.org/officeDocument/2006/relationships/notesMaster" Target="/ppt/notesMasters/notesMaster1.xml" Id="R71370106e1574c7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bb640ed91e4ea9" /><Relationship Type="http://schemas.openxmlformats.org/officeDocument/2006/relationships/notesMaster" Target="/ppt/notesMasters/notesMaster1.xml" Id="Rf7b18c7ec67a48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bd2fbbc44b34b2a" /><Relationship Type="http://schemas.openxmlformats.org/officeDocument/2006/relationships/notesMaster" Target="/ppt/notesMasters/notesMaster1.xml" Id="R3f36d4f58f8d4a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2d7e22bc854313" /><Relationship Type="http://schemas.openxmlformats.org/officeDocument/2006/relationships/notesMaster" Target="/ppt/notesMasters/notesMaster1.xml" Id="R3fdbcf76233845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b95996833940b8" /><Relationship Type="http://schemas.openxmlformats.org/officeDocument/2006/relationships/notesMaster" Target="/ppt/notesMasters/notesMaster1.xml" Id="R6a698bb7155f49b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640c76d5c1415c" /><Relationship Type="http://schemas.openxmlformats.org/officeDocument/2006/relationships/notesMaster" Target="/ppt/notesMasters/notesMaster1.xml" Id="R00895cbab71843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e11e620d9340d2" /><Relationship Type="http://schemas.openxmlformats.org/officeDocument/2006/relationships/notesMaster" Target="/ppt/notesMasters/notesMaster1.xml" Id="R9567812541f649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aa15464f85a41ae" /><Relationship Type="http://schemas.openxmlformats.org/officeDocument/2006/relationships/notesMaster" Target="/ppt/notesMasters/notesMaster1.xml" Id="R931f36c178dd448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f18ae2c9e644c17" /><Relationship Type="http://schemas.openxmlformats.org/officeDocument/2006/relationships/notesMaster" Target="/ppt/notesMasters/notesMaster1.xml" Id="R4c84b221157944a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c973a3d7a8b4e90" /><Relationship Type="http://schemas.openxmlformats.org/officeDocument/2006/relationships/notesMaster" Target="/ppt/notesMasters/notesMaster1.xml" Id="R8e618fd2d11841a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c5cf630ccf4a38" /><Relationship Type="http://schemas.openxmlformats.org/officeDocument/2006/relationships/notesMaster" Target="/ppt/notesMasters/notesMaster1.xml" Id="Rc10ca58845844cb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c740db0a4234416" /><Relationship Type="http://schemas.openxmlformats.org/officeDocument/2006/relationships/notesMaster" Target="/ppt/notesMasters/notesMaster1.xml" Id="Rc1063e8f4a62445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6aa2f5ff8ff49bb" /><Relationship Type="http://schemas.openxmlformats.org/officeDocument/2006/relationships/notesMaster" Target="/ppt/notesMasters/notesMaster1.xml" Id="Re4a487c98d894f4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3a42222bc0f4d06" /><Relationship Type="http://schemas.openxmlformats.org/officeDocument/2006/relationships/notesMaster" Target="/ppt/notesMasters/notesMaster1.xml" Id="Ra7932106047b44e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25d1157babf4123" /><Relationship Type="http://schemas.openxmlformats.org/officeDocument/2006/relationships/notesMaster" Target="/ppt/notesMasters/notesMaster1.xml" Id="R3d8206e1dd4841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6ed3eb183a4bfd" /><Relationship Type="http://schemas.openxmlformats.org/officeDocument/2006/relationships/notesMaster" Target="/ppt/notesMasters/notesMaster1.xml" Id="R145d85e16d52429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9dc26d867a84a0b" /><Relationship Type="http://schemas.openxmlformats.org/officeDocument/2006/relationships/notesMaster" Target="/ppt/notesMasters/notesMaster1.xml" Id="Rdc4cbddd1d824d3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82bb747962546be" /><Relationship Type="http://schemas.openxmlformats.org/officeDocument/2006/relationships/notesMaster" Target="/ppt/notesMasters/notesMaster1.xml" Id="R3f9526536bf54b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사진: Ashy Minivet, 설악산, CC0. public/images/destinations/credits.json 9135. 개발 기간 약 2주는 팀 제공 정보.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 문제 정의, 개발 대화의 권역·편집 요청. 사용자 유형과 시간 절감은 검증 가설.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src/pages/mytrip/ManualTrip.jsx, src/pages/AiItinerary.jsx, docs/local-eum/host-operations-guide.md. 인터뷰 통계가 아닌 설계 유형.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src/App.jsx, server/mytrip.js, server/community.js.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src/lib/manualItinerary.js, src/lib/itineraryRepository.js, travel_itineraries JSONB.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실제 실행 화면을 직접 촬영. 테스트 계정의 개발 데이터. 사진 출처는 화면의 TourAPI·공공관광정보 표시를 따름. 공개 배포 검증과 외부 사용자 테스트는 별도.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실제 실행 화면을 직접 촬영. 테스트 계정의 개발 데이터. 사진 출처는 화면의 TourAPI·공공관광정보 표시를 따름. 공개 배포 검증과 외부 사용자 테스트는 별도.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로컬 실행 화면을 직접 촬영. 테스트 계정과 시연 데이터. 관광 사진은 한국관광공사 TourAPI 등 해당 화면 출처를 따름.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로컬 실행 화면을 직접 촬영. 테스트 계정과 시연 데이터. 관광 사진은 한국관광공사 TourAPI 등 해당 화면 출처를 따름.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실제 실행 화면을 직접 촬영. 테스트 계정의 개발 데이터. 사진 출처는 화면의 TourAPI·공공관광정보 표시를 따름. 공개 배포 검증과 외부 사용자 테스트는 별도.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로컬 실행 화면을 직접 촬영. 테스트 계정과 시연 데이터. 관광 사진은 한국관광공사 TourAPI 등 해당 화면 출처를 따름.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로컬 실행 화면을 직접 촬영. 테스트 계정과 시연 데이터. 관광 사진은 한국관광공사 TourAPI 등 해당 화면 출처를 따름.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server/itinerary.js, itineraryContext.js, savedTourRepository.js. SQL 조건·공개 여부 조회와 규칙 선별을 거쳐 LLM 문맥 제공. 벡터 인덱스 미사용.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2026-10-26 로컬 실행 화면을 직접 촬영. 테스트 계정과 시연 데이터. 관광 사진은 한국관광공사 TourAPI 등 해당 화면 출처를 따름.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itineraryContext.js. 같은 시·군·구와 대표 anchor 반경. 자차15/대중교통8/도보·택시4km. Open-Meteo 실제 응답 날짜만 사용. 계절은 키워드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supabase/functions/local-eum-agent/agent-core.mjs, codyssey-client.mjs. 고정 4도구와 최종 보고서의 일반 채팅 어댑터. 도구 인자·출처·계산 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계획한 공개 운영 구성. api/index.js가 앱을 export하고 로컬 server/server.js만 listen. Vercel 실제 공개 URL·운영 검증은 미완료. Supabase Agent는 별도 배포 단위. 출처: docs/vercel-deployment.md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server/sync-tourism.js, supabase/migrations/202610250005_tour_sync.sql, src/lib/manualItinerary.js. 수동 편집 버전 검사와 AI RPC 저장은 경로를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실제 개발 대화와 해당 구현 파일. 최소 5명의 외부 사용성 조사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2026-10-26 검색42, Supabase40, 상세캐시8, Agent모의16, 로그인오류3, 배포계약2 통과. 일부 묶음 중복. 실제 API·DB2는 이전 실행의 통합 시나리오. 이번 브라우저 AI 생성 성공 별도 확인. Lint 오류0/경고13. 외부 사용자5명 미실시.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제공 역할과 약 2주 총 개발 기간. 개인별 세부 시간·커밋 비율·날짜별 이력은 산정하지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외부 사용자 테스트 미실시. 공개 배포 전체 검증 미확정. 사용자 결과·만족도·시간 절감 수치를 임의 생성하지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Supabase public 메타데이터 읽기 전용 조회(2026-10-26). 실선 화살표는 자식에서 참조 부모. 개인정보 행 미조회. 전체 제약은 database/ERD.md와 DB 설계서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Supabase public 메타데이터 읽기 전용 조회(2026-10-26). 실선 화살표는 자식에서 참조 부모. 개인정보 행 미조회. 전체 제약은 database/ERD.md와 DB 설계서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Supabase public 메타데이터 읽기 전용 조회(2026-10-26). 실선 화살표는 자식에서 참조 부모. 개인정보 행 미조회. 전체 제약은 database/ERD.md와 DB 설계서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Supabase public 메타데이터 읽기 전용 조회(2026-10-26). 실선 화살표는 자식에서 참조 부모. 개인정보 행 미조회. 전체 제약은 database/ERD.md와 DB 설계서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Supabase public 메타데이터 읽기 전용 조회(2026-10-26). 실선 화살표는 자식에서 참조 부모. 개인정보 행 미조회. 전체 제약은 database/ERD.md와 DB 설계서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공식 근거: https://vercel.com/docs/frameworks/frontend/vite , https://vercel.com/docs/functions/configuring-functions/duration . 로컬 API 배포 계약 테스트 2건 통과. 실제 배포 완료 주장은 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사진: 서울관광 아카이브, 경복궁, KOGL Type1. public/images/destinations/credits.json 6611. 운영 전 현장 정보 확인 필요.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c23d0ddc741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c12b3b2df544a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027625b4db45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933ac5fe3748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d2c8c0b71944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1aec85e8841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DF2322-735B-4029-9D9C-B0A705246F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940D491-312F-4440-BC45-666A4B7F84E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23F426A-B3AA-4C4F-AADE-1A7E81FAE1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B946F1-30C9-4D57-9E7F-1EC045434C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DF8F8DE-FEB1-4F68-AFF5-FAFADBD48F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5742B6-BF77-4A21-B7A5-02097A7A2E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CFF0546-B434-4146-9FE9-6C344C9A86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9CDB22-44BB-4E4B-9FE9-489022B52A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C03FEA-93DA-4CCB-9479-80869E3BB3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EC8720-6649-4D00-B070-6AE2E2890B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a9450e86484c03" /><Relationship Type="http://schemas.openxmlformats.org/officeDocument/2006/relationships/slideLayout" Target="/ppt/slideLayouts/slideLayout1.xml" Id="Ra80158a2cb354760" /><Relationship Type="http://schemas.openxmlformats.org/officeDocument/2006/relationships/slideLayout" Target="/ppt/slideLayouts/slideLayout2.xml" Id="R5b820a7e051846a0" /><Relationship Type="http://schemas.openxmlformats.org/officeDocument/2006/relationships/slideLayout" Target="/ppt/slideLayouts/slideLayout3.xml" Id="R4d85267f66174751" /><Relationship Type="http://schemas.openxmlformats.org/officeDocument/2006/relationships/slideLayout" Target="/ppt/slideLayouts/slideLayout4.xml" Id="R7012bd8eea8b4c13" /><Relationship Type="http://schemas.openxmlformats.org/officeDocument/2006/relationships/slideLayout" Target="/ppt/slideLayouts/slideLayout5.xml" Id="R895e3c5692944256" /><Relationship Type="http://schemas.openxmlformats.org/officeDocument/2006/relationships/slideLayout" Target="/ppt/slideLayouts/slideLayout6.xml" Id="R9e203bf2fcd84a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0158a2cb354760"/>
    <p:sldLayoutId xmlns:r="http://schemas.openxmlformats.org/officeDocument/2006/relationships" id="2147483650" r:id="R5b820a7e051846a0"/>
    <p:sldLayoutId xmlns:r="http://schemas.openxmlformats.org/officeDocument/2006/relationships" id="2147483651" r:id="R4d85267f66174751"/>
    <p:sldLayoutId xmlns:r="http://schemas.openxmlformats.org/officeDocument/2006/relationships" id="2147483652" r:id="R7012bd8eea8b4c13"/>
    <p:sldLayoutId xmlns:r="http://schemas.openxmlformats.org/officeDocument/2006/relationships" id="2147483653" r:id="R895e3c5692944256"/>
    <p:sldLayoutId xmlns:r="http://schemas.openxmlformats.org/officeDocument/2006/relationships" id="2147483654" r:id="R9e203bf2fcd84a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7b7ae9081242c6" /><Relationship Type="http://schemas.openxmlformats.org/officeDocument/2006/relationships/image" Target="/ppt/media/image.jpeg" Id="Rd556d6618be8499a" /><Relationship Type="http://schemas.openxmlformats.org/officeDocument/2006/relationships/notesSlide" Target="/ppt/notesSlides/notesSlide1.xml" Id="R270a33eda9d940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8aff2a185742c2" /><Relationship Type="http://schemas.openxmlformats.org/officeDocument/2006/relationships/notesSlide" Target="/ppt/notesSlides/notesSlide2.xml" Id="R7b755690b59f45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93a1eb8ebb4578" /><Relationship Type="http://schemas.openxmlformats.org/officeDocument/2006/relationships/notesSlide" Target="/ppt/notesSlides/notesSlide3.xml" Id="Ra0944f19aa944a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7b824269d045f2" /><Relationship Type="http://schemas.openxmlformats.org/officeDocument/2006/relationships/notesSlide" Target="/ppt/notesSlides/notesSlide4.xml" Id="Re5ea31d717b247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d47b2256b349b9" /><Relationship Type="http://schemas.openxmlformats.org/officeDocument/2006/relationships/notesSlide" Target="/ppt/notesSlides/notesSlide5.xml" Id="R01fceb16e7e649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d4fdbe9a0741e4" /><Relationship Type="http://schemas.openxmlformats.org/officeDocument/2006/relationships/image" Target="/ppt/media/image2.jpeg" Id="Ree74b92700d44049" /><Relationship Type="http://schemas.openxmlformats.org/officeDocument/2006/relationships/notesSlide" Target="/ppt/notesSlides/notesSlide6.xml" Id="Rca75f728cde44b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a0bf7632e14c1d" /><Relationship Type="http://schemas.openxmlformats.org/officeDocument/2006/relationships/image" Target="/ppt/media/image3.jpeg" Id="Rcdd5c5e41fa249bb" /><Relationship Type="http://schemas.openxmlformats.org/officeDocument/2006/relationships/notesSlide" Target="/ppt/notesSlides/notesSlide7.xml" Id="R34cace137c8247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f472f9868f4b93" /><Relationship Type="http://schemas.openxmlformats.org/officeDocument/2006/relationships/image" Target="/ppt/media/image4.jpeg" Id="R078f724038184d09" /><Relationship Type="http://schemas.openxmlformats.org/officeDocument/2006/relationships/notesSlide" Target="/ppt/notesSlides/notesSlide8.xml" Id="R82949639311245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ec9cef4c8a4a1a" /><Relationship Type="http://schemas.openxmlformats.org/officeDocument/2006/relationships/image" Target="/ppt/media/image5.jpeg" Id="Rabd2e8b096ef4386" /><Relationship Type="http://schemas.openxmlformats.org/officeDocument/2006/relationships/notesSlide" Target="/ppt/notesSlides/notesSlide9.xml" Id="R78bbea98f2b24c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2ea3a39d494bc8" /><Relationship Type="http://schemas.openxmlformats.org/officeDocument/2006/relationships/image" Target="/ppt/media/image6.jpeg" Id="R9186b45c62c04ce5" /><Relationship Type="http://schemas.openxmlformats.org/officeDocument/2006/relationships/notesSlide" Target="/ppt/notesSlides/notesSlide10.xml" Id="Re8acec472a8640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892b4df1c041a0" /><Relationship Type="http://schemas.openxmlformats.org/officeDocument/2006/relationships/image" Target="/ppt/media/image7.jpeg" Id="Rca909ce9bc214a8c" /><Relationship Type="http://schemas.openxmlformats.org/officeDocument/2006/relationships/notesSlide" Target="/ppt/notesSlides/notesSlide11.xml" Id="Ra880095aad504a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c234c79982437f" /><Relationship Type="http://schemas.openxmlformats.org/officeDocument/2006/relationships/image" Target="/ppt/media/image8.jpeg" Id="Rcea905bcf1084640" /><Relationship Type="http://schemas.openxmlformats.org/officeDocument/2006/relationships/notesSlide" Target="/ppt/notesSlides/notesSlide12.xml" Id="Re5ea9f2d8f2946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1d57722c4d4215" /><Relationship Type="http://schemas.openxmlformats.org/officeDocument/2006/relationships/notesSlide" Target="/ppt/notesSlides/notesSlide13.xml" Id="R0e84461ddb4e41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745578847433e" /><Relationship Type="http://schemas.openxmlformats.org/officeDocument/2006/relationships/image" Target="/ppt/media/image9.jpeg" Id="R6b249c4cc93b4cb1" /><Relationship Type="http://schemas.openxmlformats.org/officeDocument/2006/relationships/notesSlide" Target="/ppt/notesSlides/notesSlide14.xml" Id="R659d2d186a0e46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18d1faf307453f" /><Relationship Type="http://schemas.openxmlformats.org/officeDocument/2006/relationships/notesSlide" Target="/ppt/notesSlides/notesSlide15.xml" Id="Rc15cc54d5ab244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380774738d43d2" /><Relationship Type="http://schemas.openxmlformats.org/officeDocument/2006/relationships/notesSlide" Target="/ppt/notesSlides/notesSlide16.xml" Id="Rf090b8c420884f4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51b1d3a5c64548" /><Relationship Type="http://schemas.openxmlformats.org/officeDocument/2006/relationships/notesSlide" Target="/ppt/notesSlides/notesSlide17.xml" Id="Rc73297dd83d843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f8d8a56c214179" /><Relationship Type="http://schemas.openxmlformats.org/officeDocument/2006/relationships/notesSlide" Target="/ppt/notesSlides/notesSlide18.xml" Id="R0f3b164c7b56454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7232decff148a6" /><Relationship Type="http://schemas.openxmlformats.org/officeDocument/2006/relationships/notesSlide" Target="/ppt/notesSlides/notesSlide19.xml" Id="R4d0f0967f70b49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c81abdda664392" /><Relationship Type="http://schemas.openxmlformats.org/officeDocument/2006/relationships/notesSlide" Target="/ppt/notesSlides/notesSlide20.xml" Id="Reb266f67ee604a3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88c2e43d294249" /><Relationship Type="http://schemas.openxmlformats.org/officeDocument/2006/relationships/notesSlide" Target="/ppt/notesSlides/notesSlide21.xml" Id="R2be833069f3c4df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cd8fa569e04912" /><Relationship Type="http://schemas.openxmlformats.org/officeDocument/2006/relationships/notesSlide" Target="/ppt/notesSlides/notesSlide22.xml" Id="R579cb455367d4d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4ba22fac74870" /><Relationship Type="http://schemas.openxmlformats.org/officeDocument/2006/relationships/notesSlide" Target="/ppt/notesSlides/notesSlide23.xml" Id="R9d5f5df1787f4b2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b9dab37fb04799" /><Relationship Type="http://schemas.openxmlformats.org/officeDocument/2006/relationships/notesSlide" Target="/ppt/notesSlides/notesSlide24.xml" Id="R5f93f8cb29fd45a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da1ac0856d4590" /><Relationship Type="http://schemas.openxmlformats.org/officeDocument/2006/relationships/notesSlide" Target="/ppt/notesSlides/notesSlide25.xml" Id="Rf12ab653c6a440c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e015dae6874333" /><Relationship Type="http://schemas.openxmlformats.org/officeDocument/2006/relationships/notesSlide" Target="/ppt/notesSlides/notesSlide26.xml" Id="Re83960e2e887477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5f64136bf949dd" /><Relationship Type="http://schemas.openxmlformats.org/officeDocument/2006/relationships/notesSlide" Target="/ppt/notesSlides/notesSlide27.xml" Id="Ra6cb16cc60ce4bd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8643a7cbad4ca9" /><Relationship Type="http://schemas.openxmlformats.org/officeDocument/2006/relationships/notesSlide" Target="/ppt/notesSlides/notesSlide28.xml" Id="Rc1eda6d3c42b4c5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abbbc9ed824184" /><Relationship Type="http://schemas.openxmlformats.org/officeDocument/2006/relationships/notesSlide" Target="/ppt/notesSlides/notesSlide29.xml" Id="R279e26f8a84a485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422faa58394e3d" /><Relationship Type="http://schemas.openxmlformats.org/officeDocument/2006/relationships/image" Target="/ppt/media/image10.jpeg" Id="R0afd3abe6e754a07" /><Relationship Type="http://schemas.openxmlformats.org/officeDocument/2006/relationships/notesSlide" Target="/ppt/notesSlides/notesSlide30.xml" Id="Ra9f9171e429c41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03C44-411E-4824-986F-950C57BC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169AA-7F21-42A8-881E-566678FA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69B47-CA8F-437B-99EC-DDD73A04A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d6618be8499a"/>
          <a:srcRect xmlns:a="http://schemas.openxmlformats.org/drawingml/2006/main" l="31885" t="0" r="318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CA93F-F7BD-489D-B35F-3C7320DA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여행, 한걸음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DFBE4-0B25-456A-8E24-B799CB87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기반 국내 여행 계획 서비스</a:t>
            </a:r>
          </a:p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기간 약 2주 · 팀 5명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7F0C2-DBEB-40F4-9523-8FDB418D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탐색 · 계획 · 기록</a:t>
            </a:r>
          </a:p>
        </p:txBody>
      </p:sp>
    </p:spTree>
    <p:extLst>
      <p:ext uri="{BB962C8B-B14F-4D97-AF65-F5344CB8AC3E}">
        <p14:creationId xmlns:p14="http://schemas.microsoft.com/office/powerpoint/2010/main" val="6345323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31C8B-B823-4D7D-A9D2-EE3588AA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33D5A-45E2-4417-BE2B-2C461B02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65E17-FB9E-4508-8A24-D6EB7562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 계획에서 생기는 부담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90DD5-D92E-45BE-B18F-E1BD5E5C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문제: 정보 탐색 이후의 날짜별 조합과 수정 부담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E3E28-41C8-4B14-9301-14042410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5143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실제 장소를 근거로</a:t>
            </a:r>
          </a:p>
          <a:p xmlns:a="http://schemas.openxmlformats.org/drawingml/2006/main">
            <a: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수정 가능한 일정 초안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313F7-503C-4D18-B9DA-BA6D19A2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050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흩어진 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8267B-50CD-4A08-8182-527F3207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5272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관광지·음식점·숙소를 따로 비교합니다.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E3A60-B24F-4001-BE36-00E19630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052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멀어진 동선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17BF5E-CC44-4753-AA04-192C4C34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도 전체의 추천이 서로 다른 도시를 오갑니다.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8EFE4-C2C1-4F45-9D2E-BF4EDDCC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053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수정과 재조회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BE8D7-F785-44BF-8F7E-FD30C02A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5302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추천 뒤에도 장소를 바꾸고 저장할 수 있어야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254600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445A7C-6D3F-4959-A8D8-700286BC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1EAF0-9286-420C-BEBB-6BE37B4A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C3827-34C3-44E0-92DB-11CB6BD0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대상 사용자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2A9A0-0212-405B-97E9-6FCEC711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사용자 유형별로 탐색·계획·호스트 운영의 책임을 구분했습니다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C0E2B-C5D1-4092-BF88-7BA8635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A3DEB-94D6-46EE-9B2B-6AADBFF3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초안이 필요한 여행자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88C28-6F28-4748-B688-DF2E2DC0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지역과 기간은 정했지만 코스 작성이 부담됩니다.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79F37D-070A-40F7-BE04-F8D5E5F8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조건을 입력하고 AI 초안을 조정합니다.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D906F-0956-4280-9DDF-D6F6F95B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6B5C9-BF76-499C-B001-C99A8DB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직접 계획하는 여행자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E629F-F18F-4CB8-9C60-B0F693E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가고 싶은 장소를 직접 골라 조합하고 싶습니다.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A3258-D7CF-4BE4-8D65-28972F7D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빈 일정에 날짜별 장소를 담습니다.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1BE44-175B-4023-9EDA-B7073E77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8175C-5CC9-4B02-8611-A3B2A7F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 체험 호스트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E7732-E0C8-461B-9BD7-D1DBFB32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체험의 차별점과 운영안을 구체화하고 싶습니다.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5AC1F-577A-4B27-B2B1-89EE6F99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진단과 본인 체험 관리 기능을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2000507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58794-A139-40A0-AEB1-E2DB3D3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2AF43-133A-40B1-AA80-58A57120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F6551-040A-4DCA-96D9-E714B58D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서비스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60D7D-0B6A-4AB1-AA61-0E898214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탐색과 계획, 여행 후 기록을 연결합니다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669BC-A020-4B77-BAAB-6B4940C1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B067A-700D-47DC-9DB0-0EF62C9E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여행지 탐색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A0776-8F30-4C9B-A370-B3B8F962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관광정보 DB에서 지역·키워드로 장소를 찾습니다.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8B3BC4-43C6-4A91-A9C0-8568C730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찜과 회원 활동 추이를 확인합니다.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B7D46-8D8F-48ED-87B7-2D290D97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E205B-5E3F-48B9-82EE-7D713AA2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AI와 직접 일정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26F44-D908-446E-9B21-7A6674DC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조건에 맞는 AI 초안을 받거나 직접 코스를 만듭니다.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34DCB-FD5A-4956-8947-9BEAFBF1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순서·시간·장소를 편집하고 저장합니다.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78DB6-AD4C-4BEE-82C6-E8167F11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E3B3CF-2DE3-49CF-AB33-72633D7B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기록과 지역 체험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19F45-14D6-4684-9443-A04ECE74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지난 일정을 다시 열고 장소별 리뷰를 씁니다.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2BCC0-683A-4A6E-AA49-6A3B2DD4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로컬 체험과 호스트 운영 기능을 제공합니다.</a:t>
            </a:r>
          </a:p>
        </p:txBody>
      </p:sp>
    </p:spTree>
    <p:extLst>
      <p:ext uri="{BB962C8B-B14F-4D97-AF65-F5344CB8AC3E}">
        <p14:creationId xmlns:p14="http://schemas.microsoft.com/office/powerpoint/2010/main" val="15803323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C94FB-412E-4596-9C54-E330BB51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9072C-9066-4C96-BA25-438D81F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3D28CF-4E62-4B6E-B8B4-CBAC9674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여행자의 이용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E8211-1E81-43B5-8F54-E50B3746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AI와 직접 작성의 결과를 회원별 공통 일정 구조에 저장합니다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D0C45-ADC2-46E5-8B6D-31917D70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B2FA5-19FD-4C07-A525-0AE6800E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탐색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95C51-FAFC-43EF-AF34-D27DC45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지역과 장소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01943-8A8C-415D-AF2E-DE60781C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4580-B511-46C9-AACA-DC41F867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19DDD-20DB-4BA6-B4C4-9848087A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생성 또는 직접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96655-4FDF-4D97-81F6-E6277FD3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33D47-DB88-479E-A508-14C89DDF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편집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23538-2F7B-448F-AD21-8F63E779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일차·순서·시간 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3E27C-CE8C-40BD-853A-25B23FE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759CB-7B71-4F69-93B1-8598C561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3E65A6-68DF-4E23-A865-8A350E51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저장·재조회·리뷰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A017D-7876-4BC0-A861-4FDC31FE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찜은 관심 장소를 보관하고, 일정에 담기는 실제 여행 계획에 추가합니다.</a:t>
            </a:r>
          </a:p>
        </p:txBody>
      </p:sp>
    </p:spTree>
    <p:extLst>
      <p:ext uri="{BB962C8B-B14F-4D97-AF65-F5344CB8AC3E}">
        <p14:creationId xmlns:p14="http://schemas.microsoft.com/office/powerpoint/2010/main" val="1734081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109BE-F88C-4DFB-B0D7-CBE1E65C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7F19F-EF52-4C6B-BC48-A987B386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DC9C2-1C14-4131-8DCF-361E017C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여행지 탐색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5164B-C1DE-4332-9AB9-2FECE8C8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원본 수집과 화면 조회를 분리한 DB 중심 구조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02121-3C70-44D8-BABC-B4F047B40E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4b92700d44049"/>
          <a:stretch xmlns:a="http://schemas.openxmlformats.org/drawingml/2006/main"/>
        </p:blipFill>
        <p:spPr>
          <a:xfrm xmlns:a="http://schemas.openxmlformats.org/drawingml/2006/main">
            <a:off x="514350" y="2239779"/>
            <a:ext cx="7715250" cy="361669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C7E04-69F1-4085-B974-06B21631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12,556곳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DD022-C81F-40A7-9940-A6077645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2026-10-25 관광지 분류 확인값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1F149-D800-48BA-AEA4-71DA7CE2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DB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D38CB-907A-4A45-991E-E619D3C4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검색·지역 필터·페이지 적용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038C07-3462-4882-9B8F-8403FC80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필요한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8097F-4EDB-436D-9C9C-E2919CB1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사진과 상세, 찜과 일정 담기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856A0-04B3-49F5-916F-FEA1A173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실제 화면 캡처. 건수는 2026-10-25 확인 시점 기준.</a:t>
            </a:r>
          </a:p>
        </p:txBody>
      </p:sp>
    </p:spTree>
    <p:extLst>
      <p:ext uri="{BB962C8B-B14F-4D97-AF65-F5344CB8AC3E}">
        <p14:creationId xmlns:p14="http://schemas.microsoft.com/office/powerpoint/2010/main" val="16020458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B1A7A-DC3E-49DE-961D-97DB1B63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9F947-05C1-4C5B-AA4F-D48F2B36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2B47B-0760-4660-A8B9-33CE7A1F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여행 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9C5DD-629F-40F0-A8DE-006D7246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DB 후보 검색과 권역 선별 후 모델이 날짜별 초안을 구성합니다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D54BD-E2CF-47B0-BC52-89E92FE2F6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5c5e41fa249bb"/>
          <a:stretch xmlns:a="http://schemas.openxmlformats.org/drawingml/2006/main"/>
        </p:blipFill>
        <p:spPr>
          <a:xfrm xmlns:a="http://schemas.openxmlformats.org/drawingml/2006/main">
            <a:off x="784617" y="2228013"/>
            <a:ext cx="7174716" cy="364022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53525-4C54-4ACE-BD02-27587FB3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여행 조건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88587-95BD-4952-B400-2EBCFCBB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기간·지역·인원·예산·스타일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F8A71-052F-4BFE-A1C3-EE40012A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날짜별 코스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FD2CF-E21D-4C89-912F-A6E1EEC9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사진·시간·이유와 위치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79541-68A7-4DA9-AE91-F06E501A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사용자 편집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21926-5596-40E6-B88E-0EEF6F75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순서와 장소를 바꾸고 저장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F274E-60FB-4AD2-94CB-B1F2FC9B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실제 화면 캡처. 실제 도로 시간과 영업·가격 확정은 별도 확인 대상입니다.</a:t>
            </a:r>
          </a:p>
        </p:txBody>
      </p:sp>
    </p:spTree>
    <p:extLst>
      <p:ext uri="{BB962C8B-B14F-4D97-AF65-F5344CB8AC3E}">
        <p14:creationId xmlns:p14="http://schemas.microsoft.com/office/powerpoint/2010/main" val="12474129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298A8-50A0-4B5F-BF03-C1BA8205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B709-352C-4DF8-BBAD-95F0DD6A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35739-56D0-4F96-BB90-4D0CC127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직접 만드는 나의 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97948-CE61-4A07-85A9-9C30D0A0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AI를 사용하지 않아도 원하는 장소로 계획할 수 있습니다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C6E44-825E-499E-B325-A013E3FB03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f724038184d09"/>
          <a:stretch xmlns:a="http://schemas.openxmlformats.org/drawingml/2006/main"/>
        </p:blipFill>
        <p:spPr>
          <a:xfrm xmlns:a="http://schemas.openxmlformats.org/drawingml/2006/main">
            <a:off x="533400" y="2179053"/>
            <a:ext cx="8096250" cy="379529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A0E1B-62DB-4AEE-A98C-2CA46AA9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AI 없이 직접 작성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277C2-6FE4-44D4-95CF-4275A411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480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 이름과 기간을 정하고 장소를 담습니다.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513E5-D7B1-448E-B8A4-E25B3194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6247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같은 일차 중복과 저장 충돌을 검사합니다.</a:t>
            </a:r>
          </a:p>
        </p:txBody>
      </p:sp>
    </p:spTree>
    <p:extLst>
      <p:ext uri="{BB962C8B-B14F-4D97-AF65-F5344CB8AC3E}">
        <p14:creationId xmlns:p14="http://schemas.microsoft.com/office/powerpoint/2010/main" val="13962000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1DB86-F99D-436A-8FD0-BBAE9C8E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C07F2-59C6-4B31-ABE5-F298BC17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일정도 원하는 장소로 바꿀 수 있습니다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4A2E3-7EFF-47DC-9D97-8EBA8F79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검색한 실제 여행지를 현재 선택한 날짜에 추가합니다.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0674A-4A06-4B85-B563-693882BCF9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d2e8b096ef4386"/>
          <a:stretch xmlns:a="http://schemas.openxmlformats.org/drawingml/2006/main"/>
        </p:blipFill>
        <p:spPr>
          <a:xfrm xmlns:a="http://schemas.openxmlformats.org/drawingml/2006/main">
            <a:off x="639124" y="2076450"/>
            <a:ext cx="788480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1B4CFF-A65C-4A74-9AF3-FD00458F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현재 일차에 장소 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6DDFD-962F-43E7-BA8C-1F2B967A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480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삭제·시간·순서도 수정합니다.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93A7E-21F1-4C1F-8E36-AF8D96C2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6247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수정 결과는 계정의 저장 흐름으로 이어집니다.</a:t>
            </a:r>
          </a:p>
        </p:txBody>
      </p:sp>
    </p:spTree>
    <p:extLst>
      <p:ext uri="{BB962C8B-B14F-4D97-AF65-F5344CB8AC3E}">
        <p14:creationId xmlns:p14="http://schemas.microsoft.com/office/powerpoint/2010/main" val="1183411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6DAF7-EA47-4FFF-B2A0-363A54B5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A593F-4198-4281-B8AE-0A250840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9DD72-1DFC-40DF-95BC-7690B26E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 기록과 커뮤니티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84F86-4EE1-4E40-9740-5DAB7386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저장한 여행 하나에서 전체 코스와 장소별 리뷰로 이어집니다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EB44F-00D3-42B2-AB0D-8430A373BA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6b45c62c04ce5"/>
          <a:stretch xmlns:a="http://schemas.openxmlformats.org/drawingml/2006/main"/>
        </p:blipFill>
        <p:spPr>
          <a:xfrm xmlns:a="http://schemas.openxmlformats.org/drawingml/2006/main">
            <a:off x="701823" y="2327741"/>
            <a:ext cx="7340304" cy="344076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AE670-36FE-48A3-97BC-9C75FCB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지난 일정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73662-CE24-4482-90D7-70978DD2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종료일 기준으로 여행을 묶습니다.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8EEF1-6FD1-48ED-9D2D-AB3B4358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전체 코스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8213F-2F02-49C6-A86B-FBFD2800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모든 날짜의 장소를 다시 봅니다.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AE07A-7589-4B1F-A6A4-667F61D1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장소별 리뷰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8768E-0781-4FC4-9F7F-23A62A31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선택한 장소에 후기·별점을 남깁니다.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15F11-945B-4CC8-824E-B73EFABC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화면. 현행 목록은 일정 3개·찜 6개 단위의 페이지로 분리합니다.</a:t>
            </a:r>
          </a:p>
        </p:txBody>
      </p:sp>
    </p:spTree>
    <p:extLst>
      <p:ext uri="{BB962C8B-B14F-4D97-AF65-F5344CB8AC3E}">
        <p14:creationId xmlns:p14="http://schemas.microsoft.com/office/powerpoint/2010/main" val="9608136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3173-BBB6-44A4-8A8A-F7BB6688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BAE16-638E-4F7A-9020-8E85C013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A7744-9EEE-460E-A284-4AD048CE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로컬 체험과 호스트 운영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00ADB-BA68-43CD-84A6-0A6D9EBD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여행자에게는 체험 탐색, 호스트에게는 운영과 AI 진단을 제공합니다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EE3FD6-D6A5-4D04-8ED7-98308FCF9F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909ce9bc214a8c"/>
          <a:stretch xmlns:a="http://schemas.openxmlformats.org/drawingml/2006/main"/>
        </p:blipFill>
        <p:spPr>
          <a:xfrm xmlns:a="http://schemas.openxmlformats.org/drawingml/2006/main">
            <a:off x="533400" y="2179053"/>
            <a:ext cx="8096250" cy="379529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BCB28-8A1D-4AD8-90B5-1D406ECE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15개 시연 체험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D3959-F757-4DEB-978B-87124F4D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480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지역·진행 언어·관심 분야로 찾습니다.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07A4C-5B5A-4487-969A-BED7FAA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6247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이미지 표시와 데모 신청 범위를 안내합니다.</a:t>
            </a:r>
          </a:p>
        </p:txBody>
      </p:sp>
    </p:spTree>
    <p:extLst>
      <p:ext uri="{BB962C8B-B14F-4D97-AF65-F5344CB8AC3E}">
        <p14:creationId xmlns:p14="http://schemas.microsoft.com/office/powerpoint/2010/main" val="18035921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8219A-5C9B-463E-8674-1BBBBFDE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75EFC-6E03-4CAF-9CA3-890F6D8A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장소의 후기가 다음 여행으로 이어집니다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EC39F-FF28-4984-A8B3-8E405CAF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리뷰·질문·소통, 장소별 사진과 댓글을 연결합니다.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594D5-9341-4BB0-9BF8-3B2B9C096A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905bcf1084640"/>
          <a:stretch xmlns:a="http://schemas.openxmlformats.org/drawingml/2006/main"/>
        </p:blipFill>
        <p:spPr>
          <a:xfrm xmlns:a="http://schemas.openxmlformats.org/drawingml/2006/main">
            <a:off x="533400" y="2179053"/>
            <a:ext cx="8096250" cy="379529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92C4C-9913-464E-86F2-EECCA869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50개 개발 샘플 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E9B5F-3A54-4186-808C-F98636F9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480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리뷰 20 · 질문 15 · 소통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80EE1-6D6A-42A3-961C-40538134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6247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사진 신규 업로드는 준비 중입니다. 샘플은 사용자 평가 수치와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12784066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287DB-795B-4CBC-A1C6-8BDC0E3774E7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57556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4C2B3-1B78-4046-8CCB-2AE8F15B05F0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4632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51DCB-1C67-4E59-AF61-8F23EA8B8C27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11708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11B06-2835-4A1F-AB53-F5D2E91997A3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38784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C992DA-8D80-40BC-A107-C750385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1022F-3903-4451-AC05-BC715AE3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D7218-B1C7-4B15-AA5A-03D3BD86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SQL 조건 검색 기반 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98FA7-F19F-40A0-96F5-3D2E7774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지역·유형·공개 여부를 검색하고 좌표·날짜 규칙으로 후보를 선별합니다</a:t>
            </a:r>
          </a:p>
        </p:txBody>
      </p:sp>
      <p:sp>
        <p:nvSpPr>
          <p:cNvPr id="10" name="pipe0">
            <a:extLst xmlns:a="http://schemas.openxmlformats.org/drawingml/2006/main">
              <a:ext uri="{FF2B5EF4-FFF2-40B4-BE49-F238E27FC236}">
                <a16:creationId xmlns:a16="http://schemas.microsoft.com/office/drawing/2014/main" id="{A394B0C4-9CE1-4CC2-9C38-478BFCC7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조건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05C14-4F80-4C48-8806-4912251A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날짜·기간·지역</a:t>
            </a:r>
          </a:p>
        </p:txBody>
      </p:sp>
      <p:sp>
        <p:nvSpPr>
          <p:cNvPr id="12" name="pipe1">
            <a:extLst xmlns:a="http://schemas.openxmlformats.org/drawingml/2006/main">
              <a:ext uri="{FF2B5EF4-FFF2-40B4-BE49-F238E27FC236}">
                <a16:creationId xmlns:a16="http://schemas.microsoft.com/office/drawing/2014/main" id="{F08063B3-F45B-497B-A20B-1A00AD36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DB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F084A-6C9D-4437-A88E-4636929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장소·음식점·숙박</a:t>
            </a:r>
          </a:p>
        </p:txBody>
      </p:sp>
      <p:sp>
        <p:nvSpPr>
          <p:cNvPr id="14" name="pipe2">
            <a:extLst xmlns:a="http://schemas.openxmlformats.org/drawingml/2006/main">
              <a:ext uri="{FF2B5EF4-FFF2-40B4-BE49-F238E27FC236}">
                <a16:creationId xmlns:a16="http://schemas.microsoft.com/office/drawing/2014/main" id="{DF9BF05C-4034-4A28-BBAD-6F9E2B6B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맥락 보강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15889-B1E9-45C4-B994-3D922E2A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권역·날씨·행사</a:t>
            </a:r>
          </a:p>
        </p:txBody>
      </p:sp>
      <p:sp>
        <p:nvSpPr>
          <p:cNvPr id="16" name="pipe3">
            <a:extLst xmlns:a="http://schemas.openxmlformats.org/drawingml/2006/main">
              <a:ext uri="{FF2B5EF4-FFF2-40B4-BE49-F238E27FC236}">
                <a16:creationId xmlns:a16="http://schemas.microsoft.com/office/drawing/2014/main" id="{1342164C-536F-4C72-9332-BFC3142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8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LLM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420558-D648-4292-A696-9924A397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8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허용된 후보 ID</a:t>
            </a:r>
          </a:p>
        </p:txBody>
      </p:sp>
      <p:sp>
        <p:nvSpPr>
          <p:cNvPr id="18" name="pipe4">
            <a:extLst xmlns:a="http://schemas.openxmlformats.org/drawingml/2006/main">
              <a:ext uri="{FF2B5EF4-FFF2-40B4-BE49-F238E27FC236}">
                <a16:creationId xmlns:a16="http://schemas.microsoft.com/office/drawing/2014/main" id="{7AA36868-1ED0-4577-A2F4-3E9F1FFE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결과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DF0EE-4AB8-4312-B264-44C8932D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일수·날짜·권역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45949-3260-4CA8-B180-C0DF0EA2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검색 근거를 LLM 문맥에 전달합니다. 의미 유사도 검색이 필요한 단계에서 임베딩 확장을 검토합니다.</a:t>
            </a:r>
          </a:p>
        </p:txBody>
      </p:sp>
    </p:spTree>
    <p:extLst>
      <p:ext uri="{BB962C8B-B14F-4D97-AF65-F5344CB8AC3E}">
        <p14:creationId xmlns:p14="http://schemas.microsoft.com/office/powerpoint/2010/main" val="9648585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753EF-A3D4-4A60-A726-B7231C21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898B6-B9EA-4A69-877B-807EBA3D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프로필과 운영 권한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67A19-0125-4EDF-8568-E72A0494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신규 호스트는 프로필을 작성하고 승인 상태에 맞는 기능을 사용합니다.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E3238D-02D9-470F-9F02-95AB3B38C4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49c4cc93b4cb1"/>
          <a:stretch xmlns:a="http://schemas.openxmlformats.org/drawingml/2006/main"/>
        </p:blipFill>
        <p:spPr>
          <a:xfrm xmlns:a="http://schemas.openxmlformats.org/drawingml/2006/main">
            <a:off x="533400" y="2179141"/>
            <a:ext cx="8096250" cy="379511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03B6B-0CDD-4F0F-B152-9DD9A3C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공통 계정으로 접근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B5170F-39B4-49D4-9ED9-85607E9B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480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프로필과 체험의 저장 범위를 구분합니다.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C3E87-8738-4E41-98C9-58B81606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62475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현재 테스트 계정은 승인 대기 상태입니다.</a:t>
            </a:r>
          </a:p>
        </p:txBody>
      </p:sp>
    </p:spTree>
    <p:extLst>
      <p:ext uri="{BB962C8B-B14F-4D97-AF65-F5344CB8AC3E}">
        <p14:creationId xmlns:p14="http://schemas.microsoft.com/office/powerpoint/2010/main" val="10077638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6492C-1E44-4B1C-824E-45327E6D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62199-F392-4362-885A-FE98ADE8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96419-3ABF-4323-9D8B-8DC46D52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권역과 여행 날짜를 반영한 추천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B264-6623-4706-AF59-3E705AC4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정확한 지역 조건과 날짜가 있는 보조 정보를 우선 적용합니다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4BDEFA-C6B6-4BD8-8467-A0A7B1C38277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판단 기준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적용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표시하는 한계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가까운 권역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시·군·구 안의 후보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도로 경로는 별도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 수단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직선 반경 15 / 8 / 4km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자차 / 대중교통 / 도보·택시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날씨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예보가 있는 날짜만 활용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 밖·실패 상태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행사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개최 기간이 겹치는 행사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확인한 날짜 안에서만 배치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월·계절 키워드 참고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절정·제철 판매 확정 안 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8423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FBF8B-417C-4466-B9FE-101D993903AB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429375" y="3048000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67D3D-B590-4DEC-AD1B-C126F392C934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09900" y="304800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CABAE-CD51-4110-BE18-A916D01C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D529F-DFEC-45F7-988B-893DC8C2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34B2D-D585-4E13-994C-E1A4227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체험 AI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6A1FB-D7DA-4A10-AD06-2E036683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고정된 도구 순서와 검증된 JSON 인자로 수행하는 제한형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3E6EE-5BA7-4531-8EF0-D570CA6B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24125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입력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권한·소유권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42899-A124-489F-A30E-112583B0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24125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모델이 인자 제안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서버가 도구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DA970-BE2F-43B1-8EEF-6113DD74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241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출처·계산 검증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보고서 생성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B46B9-472B-48CA-B1D6-E8B95869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54AB11-6B3D-4D9B-B30E-17D7AAE3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유사 체험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6D348-360A-4814-A756-0FECDBB8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29615-9303-475C-8384-3ED1A24B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 지식 검색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8C4C-7F70-4575-9E56-4FC780B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60268-6752-4129-B1A4-F7A026B8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체험 가치 평가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DAC35C-9132-4EE1-8530-B36163D2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9AFBF-9370-4382-AAC3-CB2C0EF3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비용 계산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993B5-1D08-44F5-9F92-19D4C850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022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조회한 근거 ID만 인용하고, 호스트 검토 뒤 별도 저장합니다.</a:t>
            </a:r>
          </a:p>
        </p:txBody>
      </p:sp>
    </p:spTree>
    <p:extLst>
      <p:ext uri="{BB962C8B-B14F-4D97-AF65-F5344CB8AC3E}">
        <p14:creationId xmlns:p14="http://schemas.microsoft.com/office/powerpoint/2010/main" val="19743368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BD0E2-F7C5-4CA2-AA51-FC0F834320FF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524750" y="4738688"/>
            <a:ext cx="11620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042A5-5677-4D97-ACE5-02B63F470EE1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6048375" y="3409950"/>
            <a:ext cx="4114800" cy="8286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36528-8133-484A-B8D3-3B8312D6855C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4" idx="2"/>
          </p:cNvCxnSpPr>
          <p:nvPr/>
        </p:nvCxnSpPr>
        <p:spPr>
          <a:xfrm xmlns:a="http://schemas.openxmlformats.org/drawingml/2006/main" flipV="1">
            <a:off x="7524750" y="3409950"/>
            <a:ext cx="2638425" cy="1328738"/>
          </a:xfrm>
          <a:prstGeom xmlns:a="http://schemas.openxmlformats.org/drawingml/2006/main" prst="bentConnector4">
            <a:avLst>
              <a:gd name="adj1" fmla="val 8664"/>
              <a:gd name="adj2" fmla="val 82796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0C22E-AE5E-43A6-AF96-4458B73F2DC9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1962150" y="3409950"/>
            <a:ext cx="2609850" cy="1328738"/>
          </a:xfrm>
          <a:prstGeom xmlns:a="http://schemas.openxmlformats.org/drawingml/2006/main" prst="bentConnector5">
            <a:avLst>
              <a:gd name="adj1" fmla="val 0"/>
              <a:gd name="adj2" fmla="val 17204"/>
              <a:gd name="adj3" fmla="val 91241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7A12A-C7CC-4F29-A2EA-6ED84ED99B8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524750" y="2895600"/>
            <a:ext cx="11620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1D0A8-0C6C-43EF-95E0-84EA9714007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390900" y="2895600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33DB1-7B34-48F5-8BDB-A6431293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AAC9F-26D8-4ACC-902D-997803F5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8FE02-624B-404A-81DD-7445AA38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7171A-2654-475A-80B9-EB137879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사용자 인증 경로와 서버 전용 키가 필요한 경로를 분리했습니다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B4C6E-4A52-43E5-B1F8-29494461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Vercel 정적 화면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React / Vite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1CB27A-3BBA-4BB7-89B3-B5A5605D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2952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Vercel Function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Express /api/*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1EAC6-4CD8-44E8-B7DD-498CD6FC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952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Supabase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 · DB · RLS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E7953-59AE-4C8E-9789-12BFD1BA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38625"/>
            <a:ext cx="2952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Supabase Edge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680F4-37D3-4F38-8FC2-C22B7759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38625"/>
            <a:ext cx="2952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LLM · TourAPI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Open-Meteo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CC11F6-CC58-455D-B211-96B18768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6737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직접 DB 접근은 회원 JWT·RLS 적용 / 서버 Secret과 모델 키는 서버 환경에만 저장</a:t>
            </a:r>
          </a:p>
        </p:txBody>
      </p:sp>
    </p:spTree>
    <p:extLst>
      <p:ext uri="{BB962C8B-B14F-4D97-AF65-F5344CB8AC3E}">
        <p14:creationId xmlns:p14="http://schemas.microsoft.com/office/powerpoint/2010/main" val="5970171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3A0F4-43C6-46FD-806C-1457EB9E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695FF-027E-4980-8425-5BB52802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실제 데이터베이스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D473B-C508-4E13-8A8E-C453003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공개 스키마 26개 테이블 · 4개 뷰 · 외래키 32개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DB85D-89C1-41CA-B7B7-2858A790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60325-5BFC-4E1B-A521-E866FACA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회원·여행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5EA57-4AD3-4952-B303-02A27543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709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프로필, JSONB 일정, 관계형 기록과 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8B304-5159-4BA5-B6AE-AEA74CEB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146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D1ED1-730F-44A2-9010-7F533716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1467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장소·커뮤니티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ECD50-2146-4B56-8A68-924C127E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14675"/>
            <a:ext cx="709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장소·상세 캐시와 글·댓글·사진·좋아요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12327-D709-4670-91E0-4B4E62B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0A5DD-D61B-4912-8F7B-2A286BB0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4335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로컬 체험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D59F4C-7525-4BA3-8C4B-056AFA57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43350"/>
            <a:ext cx="709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호스트·권한·체험·회차·신청·데모 결제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799FB-B68F-4D0E-9AA2-FF1A2F7C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7202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F127EA-D9F0-4E79-9976-3552F97E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720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수집·활동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24144E-B578-4083-81C7-019245BE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72025"/>
            <a:ext cx="709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 원본·커서·검색 이력·사이트 활동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35CF8-90AD-40B4-A4E4-FBA6CE8F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67400"/>
            <a:ext cx="1104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26개 테이블 RLS 활성화 확인 / 관리형 auth.users는 공개 테이블 수에 포함하지 않음</a:t>
            </a:r>
          </a:p>
        </p:txBody>
      </p:sp>
    </p:spTree>
    <p:extLst>
      <p:ext uri="{BB962C8B-B14F-4D97-AF65-F5344CB8AC3E}">
        <p14:creationId xmlns:p14="http://schemas.microsoft.com/office/powerpoint/2010/main" val="5866154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5445B-81E8-46BF-A0E8-1870FB74740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61060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D982F-95DB-44B8-BF08-AB73E56DF28F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1025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983B7-7903-4723-8EEF-20A2CD38B1BC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00990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A3C7-712E-480B-BBF4-C1498E1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8E61C-08EB-481E-B112-4BDF6D57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3A4C4-D16F-43B1-8FC6-1F7C846F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데이터 갱신과 저장 일관성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69D35-EC73-4160-86B3-350D9F58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원천 식별자·변경 해시·트랜잭션·회원 소유권을 함께 관리합니다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853964-9FB9-470F-9338-87C11540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원본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27A6F-7ED7-4322-9811-2877CCC0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contentid · 수정일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32A65-D800-4E54-A146-467944FA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변경 판정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F4D30-92BA-4FA5-8D8F-2C357F6A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해시 · 공개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48AD17-9B3D-4375-8ADA-F83F5711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원자적 반영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1D1C9-293A-41DC-B01B-3C1234D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데이터 + 커서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43EEA-18C1-4308-9044-90DC99B9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화면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8C875-57BA-469A-A360-CE2549F5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DB 페이지 + 캐시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14ACF1-530E-4C77-ADC1-80E5EB39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회원 일정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E7421-35D8-4475-B3A4-B1233307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33950"/>
            <a:ext cx="8096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UUID와 RLS로 소유권 분리 / 수동 편집은 updated_at으로 충돌 감지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74EE6C-E64E-4744-8B3C-B56ADF3B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중단 후 다음 페이지에서 재개하며, 한도 오류는 반복 호출하지 않고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3495164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AA6C1-CBCA-4ED1-9AB6-E190E688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FBE75-FC7B-40C1-B724-1BBA866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7ECAD-EB6C-48A1-AF60-D1D1A2A3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문제 발견과 개선 추적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F2FE3-A57F-444A-940B-04D04D33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실제 개선 요청을 기능과 데이터 동작에 반영했습니다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3D157-EA0F-4496-B723-354E63F61F63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 또는 요청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반영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일정과 찜이 연결되지 않음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회원별 저장과 목록 통합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DB 재조회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먼 도시를 오가는 AI 코스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세부 지역과 직선 반경 제한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거제 일정 생성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장소별로 과거 여행이 반복됨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 하나로 묶고 전체 상세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 payload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없이 계획하고 싶음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직접 만들기와 날짜별 담기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생성·편집·재조회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목록이 계속 길어짐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일정 3개·찜 6개 페이지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 분할 및 빌드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68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F8FF1-5896-475F-A2B0-32C55D7E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6A28F-3E6F-4218-A7AA-E7C26701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FE6F7-9E53-4AB9-852A-64E414B6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검증 증거와 적용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FA5F-2633-4B57-A1EB-54A798E4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자동 검사·실제 API·개발 피드백·외부 사용자 평가를 구분합니다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CC9E3-620E-4039-AEA2-F6C919A631BF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 묶음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Supabase·일정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40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권한·저장·동기화 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탐색·추천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 / 42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검색·추천·이동 경로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 상세·캐시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/ 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사진·동명 장소·입력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API·DB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저장과 AI 생성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호스트 Agent 모의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 / 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도구·출처·비용·권한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20696-3482-4681-837B-6F5B16AA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97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추가 검사: 로그인 3건·배포 계약 2건 통과. 외부 사용자 테스트는 미실시이며 전체 동작 검수와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145447115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290E23-4D81-4501-A557-5F46CA6D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47BF3-85F8-465C-B5ED-D3E0669A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29BF1-0C84-46D8-B02D-DA5DAEBF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팀 역할과 약 2주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E6824-ACB9-4317-93E1-693F6237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기간 약 2주 / 기능별 분담 후 인증·장소 ID·일정 구조 통합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7FA47-A74B-43A3-BF54-EBD09D4ADBF1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영역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 지점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강하연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체험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호스트·체험 운영과 AI 진단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최인영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사진 및 추천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여행지 탐색과 추천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황재훈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여행 일정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기반 생성과 코스 편집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김수민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커뮤니티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장소별 리뷰와 여행 기록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이충훈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로그인·DB 설계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 인증과 데이터 관계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295908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3645E-E5F4-4EE5-BEDB-A175D6FC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FC12B-AA86-496F-B51A-8D295564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82058-73E8-46CB-A572-EBC283C1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운영 전환과 품질 검증 계획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9C3FA-DF6C-4C4D-A83C-E0E56458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현재 확보한 기능 검증을 공개 환경과 실제 사용자 경험으로 확장합니다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8D43B-8968-4D68-889B-43EFBA90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4E4F7-E9A0-4F18-9807-CBEB5451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외부 사용자 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58514-35C8-478E-B078-D93020D0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5명 이상에게 동일 과제를 제공하고 완료·시간·막힌 단계를 기록합니다.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6F5D9-45F2-45B2-A2B3-1BFB6E34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현재 미실시이며 만족도·시간 절감 수치는 산정하지 않았습니다.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B54F3-D290-470E-84B5-3B62793C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AE673-15C3-4BFE-8DCB-8727881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결함과 재검증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51AFB-FFAC-43A3-920D-81AA69C9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문제 원인과 수정 기능을 연결해 기록합니다.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1BE32-61AD-4F9D-9029-88C65D48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수정 후 같은 과제로 다시 확인합니다.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AEC20-7E6D-404A-929B-5176AFD1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AB2E9-904A-412F-B130-6DFF1A41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공개 운영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63FC2-99A8-4E0A-AF1C-AF2E9F51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웹·API·Auth·Agent의 공개 접근 경로를 확인합니다.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3F37C-AA27-49D0-86CE-1156A019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라우팅·비밀값·동기화 예약 실행을 점검합니다.</a:t>
            </a:r>
          </a:p>
        </p:txBody>
      </p:sp>
    </p:spTree>
    <p:extLst>
      <p:ext uri="{BB962C8B-B14F-4D97-AF65-F5344CB8AC3E}">
        <p14:creationId xmlns:p14="http://schemas.microsoft.com/office/powerpoint/2010/main" val="158941148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549FF-851A-4E0E-A976-C0242C3107F3}"/>
              </a:ext>
            </a:extLst>
          </p:cNvPr>
          <p:cNvCxnSpPr>
            <a:stCxn xmlns:a="http://schemas.openxmlformats.org/drawingml/2006/main" id="24" idx="0"/>
            <a:endCxn xmlns:a="http://schemas.openxmlformats.org/drawingml/2006/main" id="21" idx="2"/>
          </p:cNvCxnSpPr>
          <p:nvPr/>
        </p:nvCxnSpPr>
        <p:spPr>
          <a:xfrm xmlns:a="http://schemas.openxmlformats.org/drawingml/2006/main" flipV="1">
            <a:off x="1976438" y="328612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00C80-88E5-4AC3-B01E-71FFDDC9F08C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3000375" y="4810125"/>
            <a:ext cx="652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6AAA8-1E3E-460D-8D36-8066E6AE61D7}"/>
              </a:ext>
            </a:extLst>
          </p:cNvPr>
          <p:cNvCxnSpPr>
            <a:stCxn xmlns:a="http://schemas.openxmlformats.org/drawingml/2006/main" id="27" idx="0"/>
            <a:endCxn xmlns:a="http://schemas.openxmlformats.org/drawingml/2006/main" id="15" idx="2"/>
          </p:cNvCxnSpPr>
          <p:nvPr/>
        </p:nvCxnSpPr>
        <p:spPr>
          <a:xfrm xmlns:a="http://schemas.openxmlformats.org/drawingml/2006/main" flipV="1">
            <a:off x="5119688" y="328612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9EE21-8FE6-4A0B-A6BE-2ECE49812FD8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143625" y="4810125"/>
            <a:ext cx="3381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19F0B-B79E-4A9C-AB48-865888067BBB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000375" y="2809875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FA2E5-BAB5-4710-83CF-712056828C5F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143625" y="2809875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98C67-9BC8-4101-B7EF-DA0E7B74732D}"/>
              </a:ext>
            </a:extLst>
          </p:cNvPr>
          <p:cNvCxnSpPr>
            <a:stCxn xmlns:a="http://schemas.openxmlformats.org/drawingml/2006/main" id="18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8262938" y="328612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1F9A9-E070-4FE4-B249-9B6644FE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D1D57-5955-4444-BC5A-5D47CC92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회원과 여행 일정의 관계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5C38C-9355-46BF-8F80-ECDBB9D2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JSONB 일정과 관계형 여행 기록이 병존하며, 계정 소유권을 FK와 RLS로 관리합니다.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EB583-E0E8-424F-9F30-EF998EF1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6EDC6-142F-4D2E-8DE8-DDC8D971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auth.users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E1A31-CA86-435F-BA42-E805CA8C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PK 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FC49AE-56E3-4716-8278-69CC92A6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940C1-3F32-447D-8E26-946FCBFB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travel_profiles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6D697-71E9-45CB-B05E-502F62F2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24C6ED-F4DA-4139-8E8B-D29EA580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3387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4004F-50FA-4C91-A436-8E0ADF6C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41007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travel_itineraries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B689E9-1319-427C-8BF2-ADC34426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2440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client_id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2F3C78-4B4C-49D9-B3E1-EF078605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498F1-9394-4781-9729-BBCE4747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mytrip_plan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02A9C-6988-42D5-9986-114E5FD1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trip_id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9B65D1-91F9-4818-8572-F53FB300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3387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51B49-1F9C-4D52-945F-1D20FBAD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1007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mytrip_place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384381-E3CC-41F8-9233-B3F3CB35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2440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tp_id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trip_id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F0956A-7BEC-49F6-93B4-9EBE7AE5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3387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C8E548-1D4C-4A71-A69D-6FB62FBC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007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mytrip_wish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DDC4F7-724B-4ACF-9A8D-564908AF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72440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wish_id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3C90CD-A720-43DD-9B04-42772E99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3387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FBEAE0-B379-4D4B-83B2-98B664F1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41007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comm_place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2D39AD-BED7-493D-BF53-F45919C3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2440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03CA9F-B399-4B27-9C3E-3571E3BF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AI·직접 일정: PK(user_id, client_id) / 찜: UNIQUE(user_id, place_id)</a:t>
            </a:r>
          </a:p>
        </p:txBody>
      </p:sp>
    </p:spTree>
    <p:extLst>
      <p:ext uri="{BB962C8B-B14F-4D97-AF65-F5344CB8AC3E}">
        <p14:creationId xmlns:p14="http://schemas.microsoft.com/office/powerpoint/2010/main" val="116974477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00DD2-F66B-48F4-B752-4979B1F1AAAB}"/>
              </a:ext>
            </a:extLst>
          </p:cNvPr>
          <p:cNvCxnSpPr>
            <a:stCxn xmlns:a="http://schemas.openxmlformats.org/drawingml/2006/main" id="25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H="1" flipV="1">
            <a:off x="5453063" y="3333750"/>
            <a:ext cx="1762125" cy="1285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971D7-8ED3-4137-83E7-B81DD8A1E3E6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239125" y="5095875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EC309-C44B-467A-802A-A99FC0B5B95B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477000" y="2857500"/>
            <a:ext cx="25717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74A15-69AA-46A1-BF49-2714EEA31644}"/>
              </a:ext>
            </a:extLst>
          </p:cNvPr>
          <p:cNvCxnSpPr>
            <a:stCxn xmlns:a="http://schemas.openxmlformats.org/drawingml/2006/main" id="3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762250" y="2857500"/>
            <a:ext cx="6286500" cy="1095375"/>
          </a:xfrm>
          <a:prstGeom xmlns:a="http://schemas.openxmlformats.org/drawingml/2006/main" prst="bentConnector3">
            <a:avLst>
              <a:gd name="adj1" fmla="val 96364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3718A-684E-4309-8357-E7BBFFD6B7D5}"/>
              </a:ext>
            </a:extLst>
          </p:cNvPr>
          <p:cNvCxnSpPr>
            <a:stCxn xmlns:a="http://schemas.openxmlformats.org/drawingml/2006/main" id="37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1738313" y="4429125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8EC354-5D7A-4F6C-BA34-E886294514C5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5524500" y="2857500"/>
            <a:ext cx="3524250" cy="2238375"/>
          </a:xfrm>
          <a:prstGeom xmlns:a="http://schemas.openxmlformats.org/drawingml/2006/main" prst="bentConnector5">
            <a:avLst>
              <a:gd name="adj1" fmla="val 6486"/>
              <a:gd name="adj2" fmla="val 26383"/>
              <a:gd name="adj3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49EF6-6ADF-4EBC-8D62-07D6E122BA87}"/>
              </a:ext>
            </a:extLst>
          </p:cNvPr>
          <p:cNvCxnSpPr>
            <a:stCxn xmlns:a="http://schemas.openxmlformats.org/drawingml/2006/main" id="34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4500563" y="3333750"/>
            <a:ext cx="952500" cy="1285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8DB8D-8EB7-41DD-AC24-9966843FE46C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2762250" y="2857500"/>
            <a:ext cx="6286500" cy="2238375"/>
          </a:xfrm>
          <a:prstGeom xmlns:a="http://schemas.openxmlformats.org/drawingml/2006/main" prst="bentConnector5">
            <a:avLst>
              <a:gd name="adj1" fmla="val 3636"/>
              <a:gd name="adj2" fmla="val 26383"/>
              <a:gd name="adj3" fmla="val 60909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C9AE3-A46C-4033-8071-C2F6E0FC4031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2762250" y="2857500"/>
            <a:ext cx="1666875" cy="2238375"/>
          </a:xfrm>
          <a:prstGeom xmlns:a="http://schemas.openxmlformats.org/drawingml/2006/main" prst="bentConnector3">
            <a:avLst>
              <a:gd name="adj1" fmla="val 13714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7120D-C03E-4EEF-B591-C458CC1562E4}"/>
              </a:ext>
            </a:extLst>
          </p:cNvPr>
          <p:cNvCxnSpPr>
            <a:stCxn xmlns:a="http://schemas.openxmlformats.org/drawingml/2006/main" id="28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2762250" y="2857500"/>
            <a:ext cx="16668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B95941-60CE-404E-B038-52A5ABE7A9DB}"/>
              </a:ext>
            </a:extLst>
          </p:cNvPr>
          <p:cNvCxnSpPr>
            <a:stCxn xmlns:a="http://schemas.openxmlformats.org/drawingml/2006/main" id="4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10072688" y="4429125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E79EF-0785-4281-A75F-0AA1C8B0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4E8B2D-2247-420D-A208-7E920788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장소와 커뮤니티의 관계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90E33C-5238-4323-8241-E1B69462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글에 장소·사진·댓글을 연결하고, 회원별 좋아요 중복을 제약합니다.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C7409-7AE4-4DEE-9A6D-B17B3478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DDEE7-603F-4F5D-B5B4-00CABC4C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D8EFF-B1F1-4450-B517-B4892913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258C9A-68EB-4EC3-9220-32911C95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8996FF-A36D-4D6B-B718-A1A1EF0D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6DC728-17A4-45CF-A84F-D5F3EC93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42033-2D22-4C85-B3F1-15547DE6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619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E16782-FDAE-4453-8695-EC89A4D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95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comm_place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7610CA-425A-4C7E-B023-D0B75562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10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334CDB-42BC-4253-9767-0163E421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02860-E303-4822-8BBC-0FA3C6A8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comm_post_place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E94960-84C1-4CB9-9BFE-2084E052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10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pp_id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post_id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753C22-EC08-45B3-8E2B-4276B019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F7A78F-8ECF-40B0-A587-52B4B4C3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comm_post_image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AEA3CA-1D62-47F4-9E1D-94F9FEC0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img_id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post_id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F05D59-716E-47BF-AC06-2EBFE41E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19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814EE4-D8E8-4FF7-A41D-10C5D313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95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comm_comment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63EFE4-F85D-4DA3-B9C0-8AF9CAB6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10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parent_id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comment_id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post_id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999F39-39AF-4BA8-96BF-75C8478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DA3307-AA34-4319-8F51-580F4D11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695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comm_post_like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1454E0-EC8E-472B-92F0-8B481F58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010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35D94B-D1EE-4406-9B69-9C637AF5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76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358FAE-AC59-4FEB-B728-730E3B70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552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comm_comment_like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EC62B0-2ACE-4F1E-B17E-FC927E7B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67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comment_id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DA4045-CC8A-4A87-9E20-024EBF68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76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4A3D73-73FA-4513-8BD0-22FD89E0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52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comm_place_tour_detail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915AC6-B988-4378-8F5D-60608F5A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67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70A7BB-EA69-48A9-BAFD-E30F9F94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그림은 주요 키를 요약합니다. 전체 열·CHECK·삭제 정책은 별첨 데이터 사전 참조.</a:t>
            </a:r>
          </a:p>
        </p:txBody>
      </p:sp>
    </p:spTree>
    <p:extLst>
      <p:ext uri="{BB962C8B-B14F-4D97-AF65-F5344CB8AC3E}">
        <p14:creationId xmlns:p14="http://schemas.microsoft.com/office/powerpoint/2010/main" val="21966997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68B20-5EEC-491F-932B-ACF82DB4AF71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6143625" y="28575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1A0A8-D7DC-4575-9C45-50F8BFF43FF0}"/>
              </a:ext>
            </a:extLst>
          </p:cNvPr>
          <p:cNvCxnSpPr>
            <a:stCxn xmlns:a="http://schemas.openxmlformats.org/drawingml/2006/main" id="2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V="1">
            <a:off x="6143625" y="2857500"/>
            <a:ext cx="1095375" cy="2095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CBFB5-14C2-46C0-9B10-EEDFDD7719CE}"/>
              </a:ext>
            </a:extLst>
          </p:cNvPr>
          <p:cNvCxnSpPr>
            <a:stCxn xmlns:a="http://schemas.openxmlformats.org/drawingml/2006/main" id="28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 flipV="1">
            <a:off x="3000375" y="3905250"/>
            <a:ext cx="1095375" cy="1047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F26F6-A059-48B8-939A-0898AA1D6503}"/>
              </a:ext>
            </a:extLst>
          </p:cNvPr>
          <p:cNvCxnSpPr>
            <a:stCxn xmlns:a="http://schemas.openxmlformats.org/drawingml/2006/main" id="28" idx="0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V="1">
            <a:off x="5119688" y="3333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C79F2-B791-45F2-B652-217770000D73}"/>
              </a:ext>
            </a:extLst>
          </p:cNvPr>
          <p:cNvCxnSpPr>
            <a:stCxn xmlns:a="http://schemas.openxmlformats.org/drawingml/2006/main" id="31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6143625" y="49530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64BC-5BB3-4005-A0BB-00F97FE1D181}"/>
              </a:ext>
            </a:extLst>
          </p:cNvPr>
          <p:cNvCxnSpPr>
            <a:stCxn xmlns:a="http://schemas.openxmlformats.org/drawingml/2006/main" id="16" idx="0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1976438" y="3333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183A3-7C71-474D-A6CC-AB4B658DAA3F}"/>
              </a:ext>
            </a:extLst>
          </p:cNvPr>
          <p:cNvCxnSpPr>
            <a:stCxn xmlns:a="http://schemas.openxmlformats.org/drawingml/2006/main" id="16" idx="0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1976438" y="3333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D47FD-336D-49CC-8AB4-DB3E3D2DD815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H="1">
            <a:off x="3000375" y="28575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8C86C-E149-4380-8E69-32D40622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806B5-9BAE-4AFF-85AE-CA7CDD19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호스트와 체험 설계의 관계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8BEC0-AEDF-43B4-9B8B-A2980DB8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장소와 체험의 호스트를 복합 FK로 연결해 소유 관계를 검사합니다.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3476B-BF6B-42DA-830D-BA55277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86087-25A2-410C-965C-3C7A8586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auth.users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D5DA70-3F08-4E37-B00B-6CC26850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PK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E53B11-88B0-417E-8456-10344E66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402D0A-BCF2-4816-8A9B-20E8A4A8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lc_user_roles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BD16F-2D6F-4504-B2C2-492216B7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672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assigned_by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user_id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role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FEA5C-F66C-4122-BE95-13E8641F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A4C4BB-3B19-492D-B9BB-180196C4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lc_hosts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671F0-6DCF-42CD-9A45-EADA1F8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auth_user_id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host_id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4F37CB-D91A-46D0-AB12-2FA965E4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A74B8-73CC-4165-A3DC-8CA8412A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lc_places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B89D1C-0330-489D-B968-DC669E19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owner_host_id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7AA460-3823-4EBF-AECF-BF01B4CF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227123-4169-4BA3-8C96-CFF45371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lc_program_templates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E668AD-DEAF-4350-A536-C5DA2C62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952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template_id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AFA6CE-3F46-4142-9C0D-30A4331D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714D8D-C317-47B9-99CF-5C47DF46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lc_experiences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FF6CB9-198D-48CB-9D6F-142091BB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672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host_id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experience_id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template_id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817938-78AD-4D07-BA54-BA606B9B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9A0303-C161-4D36-899F-9C414698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529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lc_experience_steps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127327-8319-4AD5-94CE-E22A2EE8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8672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experience_id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step_id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E3D7D6-9141-4640-B463-DB46CEC4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lc_experiences(venue_place_id, host_id) → lc_places(place_id, owner_host_id)</a:t>
            </a:r>
          </a:p>
        </p:txBody>
      </p:sp>
    </p:spTree>
    <p:extLst>
      <p:ext uri="{BB962C8B-B14F-4D97-AF65-F5344CB8AC3E}">
        <p14:creationId xmlns:p14="http://schemas.microsoft.com/office/powerpoint/2010/main" val="166449032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BF3AD3-23D0-44EE-BBE2-8D754E70DF2E}"/>
              </a:ext>
            </a:extLst>
          </p:cNvPr>
          <p:cNvCxnSpPr>
            <a:stCxn xmlns:a="http://schemas.openxmlformats.org/drawingml/2006/main" id="26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9286875" y="285750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B0163-57FA-4D5A-96BC-77172FFDFB83}"/>
              </a:ext>
            </a:extLst>
          </p:cNvPr>
          <p:cNvCxnSpPr>
            <a:stCxn xmlns:a="http://schemas.openxmlformats.org/drawingml/2006/main" id="23" idx="1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H="1">
            <a:off x="6143625" y="28575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4FBC8-562F-479B-A3DD-BFEF83C93112}"/>
              </a:ext>
            </a:extLst>
          </p:cNvPr>
          <p:cNvCxnSpPr>
            <a:stCxn xmlns:a="http://schemas.openxmlformats.org/drawingml/2006/main" id="23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8262938" y="3333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22182-BF74-4937-BAB4-F4CF23E3A100}"/>
              </a:ext>
            </a:extLst>
          </p:cNvPr>
          <p:cNvCxnSpPr>
            <a:stCxn xmlns:a="http://schemas.openxmlformats.org/drawingml/2006/main" id="17" idx="1"/>
            <a:endCxn xmlns:a="http://schemas.openxmlformats.org/drawingml/2006/main" id="14" idx="3"/>
          </p:cNvCxnSpPr>
          <p:nvPr/>
        </p:nvCxnSpPr>
        <p:spPr>
          <a:xfrm xmlns:a="http://schemas.openxmlformats.org/drawingml/2006/main" flipH="1">
            <a:off x="3000375" y="2857500"/>
            <a:ext cx="1095375" cy="2095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871C2-8323-4847-841B-AE1EE7BCADAD}"/>
              </a:ext>
            </a:extLst>
          </p:cNvPr>
          <p:cNvCxnSpPr>
            <a:stCxn xmlns:a="http://schemas.openxmlformats.org/drawingml/2006/main" id="17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3000375" y="28575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0B41B-8DE8-4D19-BDA5-C54C48F75923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1976438" y="3333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F3EEE-20E9-4F2F-81E6-17AA49FC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3B371-BA39-47A5-98A2-0E19537D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회차와 신청·데모 결제의 관계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EDF41-41A1-4974-9C18-14D641E5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회차에 신청을 연결하고 신청당 결제 데모 행을 최대 하나로 제한합니다.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7E9DF-5179-4C2D-963E-5EA54315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5131BC-DA17-4D63-A59C-4AE14212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lc_experiences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21FC4-BECD-4E58-8A4E-7671377C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host_id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experience_id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template_id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947881-729E-46B4-BC37-23DF3C88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7DB3A-3332-47E7-B86F-FED42AF4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lc_places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211B02-FD64-4A5A-B22E-7279BCC9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672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owner_host_id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A8829-7910-46C0-A9A3-029BBFF8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B21B63-0B52-4C18-9A75-A9FEA9A4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lc_sessions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E2B317-7BCA-4E72-BFE6-119F0FD0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experience_id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meeting_place_id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session_id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9E661-A049-44B7-97DB-F1D17C84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4996B3-4BC0-442C-85A8-16FFEFCC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529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auth.users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522117-42AF-4865-8328-60B5BA23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8672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PK 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6801C4-ACA6-49F6-B0FE-B1CA2C6E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40476-FE69-4A29-8EFA-96EEFE51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lc_applications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1E4953-EAF0-4153-A695-3CD22F75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auth_user_id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application_id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session_id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0F504F-7C98-4DCF-9BEF-7E734DF8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81250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201CDC-7D70-4630-86A2-D4557F25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57450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lc_application_payments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943E3E-43A8-4E2A-B510-B29B9013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71775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application_id</a:t>
            </a:r>
          </a:p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payment_id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4F1268-DE7A-4D69-81B4-82421DC3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신청 개인정보는 제한 접근 / 결제는 DEMO_VIRTUAL_ACCOUNT·DEMO_ONLY</a:t>
            </a:r>
          </a:p>
        </p:txBody>
      </p:sp>
    </p:spTree>
    <p:extLst>
      <p:ext uri="{BB962C8B-B14F-4D97-AF65-F5344CB8AC3E}">
        <p14:creationId xmlns:p14="http://schemas.microsoft.com/office/powerpoint/2010/main" val="180500429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37DCE-3AB0-4329-A9B4-73A05F25895B}"/>
              </a:ext>
            </a:extLst>
          </p:cNvPr>
          <p:cNvCxnSpPr>
            <a:stCxn xmlns:a="http://schemas.openxmlformats.org/drawingml/2006/main" id="12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6143625" y="2809875"/>
            <a:ext cx="13811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6776F"/>
            </a:solidFill>
            <a:tailEnd type="arrow" w="med" len="me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88F7F-DDAD-49F4-A0B6-C2841537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48D60-3085-4B93-98FD-98822D43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 원본과 활동 기록의 관계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19E0C-1CBD-4828-BC35-4C5439EC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원본·수집 상태와 사용자 활동은 서로 다른 목적으로 보관합니다.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A5B8E-47B6-4947-BE2C-0508DB4C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64B54-1EA4-43B4-AD86-01B392C6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travel_tour_source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866EE-ACC3-4B14-B51F-AE8FA2EF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content_id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70EC4-72FC-400E-A7BE-912B90F5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CB6D5-0BA8-4898-8A77-B297135B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comm_place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D08AC-3AB2-4526-8C0F-A9EB73DB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58F2C-9721-4349-8AB3-C7E86334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336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037B0F-073D-45A0-BF93-CE47334B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098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comm_place_tour_detail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8C56F-5194-4102-BC71-93A863E2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241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place_id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7CCA6-E47C-41D5-8C75-FA4E14DF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4EA713-7065-4AFE-8479-49D5A4A2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053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travel_tour_sync_state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1015E-35C9-43B4-9E40-963BFA05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060F7-6703-49BF-BCD5-E4C0E202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32EB2-D7F9-4371-8147-77DBF1D9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053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travel_search_log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2E0455-5A08-4091-8889-A12BAD2F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196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search_id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851CC-D5FE-4D2B-9E9B-3F52C0D9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29125"/>
            <a:ext cx="2047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CCBC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C9C2F1-92E2-4D8E-A558-72C06B41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05325"/>
            <a:ext cx="1895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travel_site_activity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2C90B1-7D8E-472B-BFFC-DA9CEA6A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19650"/>
            <a:ext cx="1895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event_key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8D6CCB-F228-418F-B2C4-2638D6AE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content_id·ext_key·활동 JSON 연결은 코드의 논리 매핑이며, 실제 FK가 없는 관계는 실선 생략</a:t>
            </a:r>
          </a:p>
        </p:txBody>
      </p:sp>
    </p:spTree>
    <p:extLst>
      <p:ext uri="{BB962C8B-B14F-4D97-AF65-F5344CB8AC3E}">
        <p14:creationId xmlns:p14="http://schemas.microsoft.com/office/powerpoint/2010/main" val="156597034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824386-60C2-47AF-9885-6AE9C7DD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98D25-AB84-4519-8BBD-E758CD30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0575"/>
            <a:ext cx="1114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Vercel 공개 운영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705D0-9FCD-4F35-BB0A-B790396C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정적 화면·API 함수·Supabase의 운영 설정을 분리합니다.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F66B9-FADC-41D2-96E5-2ABA84DE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진입점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D0CE0-3321-4E4E-88A4-BEC7DE29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api/index.js에서 Express 앱 export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C401F-9BBB-4C16-8712-E4020F84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라우팅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6E440-6FDE-4602-BA65-445B034E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19450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/api/* 우선 처리, 그 외 SPA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FD335-B3C9-42CF-AD7E-DA38D0CA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5765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실행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DD156-C0FB-4A34-ADB3-0800ECFD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57650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API 함수 300초 설정, 전체 수집은 별도 작업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E6AB0-FAE7-42D9-9AC5-491EDC52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배포 후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22CF5-35D6-4234-9D07-902BCE84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95850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 URL·환경 변수·직접 링크·AI·권한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F8544-78DC-416A-9579-0C9DAE85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Vercel 계정 로그인 확인 / 본 프로젝트 공개 URL 및 운영 검증은 배포 후 확정</a:t>
            </a:r>
          </a:p>
        </p:txBody>
      </p:sp>
    </p:spTree>
    <p:extLst>
      <p:ext uri="{BB962C8B-B14F-4D97-AF65-F5344CB8AC3E}">
        <p14:creationId xmlns:p14="http://schemas.microsoft.com/office/powerpoint/2010/main" val="146755285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09F59-C204-4AA9-922D-DDC78D69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6A07D-01EC-4DA4-800F-E3308083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90F17-53C0-48CF-A6DD-7C689D802B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d3abe6e754a07"/>
          <a:srcRect xmlns:a="http://schemas.openxmlformats.org/drawingml/2006/main" l="20845" t="0" r="208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F8B7C-548E-4435-8B07-CDB00008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여행의 계획과 기록을</a:t>
            </a:r>
          </a:p>
          <a:p xmlns:a="http://schemas.openxmlformats.org/drawingml/2006/main">
            <a: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한곳에서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FD4A1-66E8-44DC-84A0-F789924F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초안과 직접 편집으로 만드는 나만의 국내 여행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27CFA-9A40-4CBD-9F75-83B26ED0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탐색 · 계획 · 기록</a:t>
            </a:r>
          </a:p>
        </p:txBody>
      </p:sp>
    </p:spTree>
    <p:extLst>
      <p:ext uri="{BB962C8B-B14F-4D97-AF65-F5344CB8AC3E}">
        <p14:creationId xmlns:p14="http://schemas.microsoft.com/office/powerpoint/2010/main" val="646000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2026-10-26T10:11:19.4600000Z</dcterms:created>
  <dcterms:modified xsi:type="dcterms:W3CDTF">2026-10-26T10:11:19.4600000Z</dcterms:modified>
</coreProperties>
</file>