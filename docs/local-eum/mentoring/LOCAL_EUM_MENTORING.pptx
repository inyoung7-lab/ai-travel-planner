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bff2109f1fb4543" /><Relationship Type="http://schemas.openxmlformats.org/officeDocument/2006/relationships/extended-properties" Target="/docProps/app.xml" Id="R52d1e11da7c34b0c" /><Relationship Type="http://schemas.openxmlformats.org/officeDocument/2006/relationships/officeDocument" Target="/ppt/presentation.xml" Id="R3ba73038bcf04a6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e3b5ee4f8c44ddf"/>
  </p:sldMasterIdLst>
  <p:notesMasterIdLst>
    <p:notesMasterId xmlns:r="http://schemas.openxmlformats.org/officeDocument/2006/relationships" r:id="R17c0af1338294029"/>
  </p:notesMasterIdLst>
  <p:sldIdLst>
    <p:sldId xmlns:r="http://schemas.openxmlformats.org/officeDocument/2006/relationships" id="256" r:id="R7236373d2f0e4f39"/>
    <p:sldId xmlns:r="http://schemas.openxmlformats.org/officeDocument/2006/relationships" id="257" r:id="Rd082c6134ca948bc"/>
    <p:sldId xmlns:r="http://schemas.openxmlformats.org/officeDocument/2006/relationships" id="258" r:id="R8a5c4c420efa468f"/>
    <p:sldId xmlns:r="http://schemas.openxmlformats.org/officeDocument/2006/relationships" id="259" r:id="Ra5fa49e5161c4479"/>
    <p:sldId xmlns:r="http://schemas.openxmlformats.org/officeDocument/2006/relationships" id="260" r:id="R8db1f3950f7a450c"/>
    <p:sldId xmlns:r="http://schemas.openxmlformats.org/officeDocument/2006/relationships" id="261" r:id="Rb5618fdcee8a43b8"/>
    <p:sldId xmlns:r="http://schemas.openxmlformats.org/officeDocument/2006/relationships" id="262" r:id="R19fae8860481456d"/>
    <p:sldId xmlns:r="http://schemas.openxmlformats.org/officeDocument/2006/relationships" id="263" r:id="R85253cd98b0c4d73"/>
    <p:sldId xmlns:r="http://schemas.openxmlformats.org/officeDocument/2006/relationships" id="264" r:id="R3e85cac281c64aed"/>
    <p:sldId xmlns:r="http://schemas.openxmlformats.org/officeDocument/2006/relationships" id="265" r:id="R47bc417363524d5d"/>
    <p:sldId xmlns:r="http://schemas.openxmlformats.org/officeDocument/2006/relationships" id="266" r:id="R42d0acb259504b5d"/>
    <p:sldId xmlns:r="http://schemas.openxmlformats.org/officeDocument/2006/relationships" id="267" r:id="R06ca769e902f417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1f9d356cc274446" /><Relationship Type="http://schemas.openxmlformats.org/officeDocument/2006/relationships/slideMaster" Target="/ppt/slideMasters/slideMaster1.xml" Id="Rbe3b5ee4f8c44ddf" /><Relationship Type="http://schemas.openxmlformats.org/officeDocument/2006/relationships/notesMaster" Target="/ppt/notesMasters/notesMaster1.xml" Id="R17c0af1338294029" /><Relationship Type="http://schemas.openxmlformats.org/officeDocument/2006/relationships/presProps" Target="/ppt/presProps.xml" Id="R0dc61e0f4e924c9b" /><Relationship Type="http://schemas.openxmlformats.org/officeDocument/2006/relationships/tableStyles" Target="/ppt/tableStyles.xml" Id="Redbc3dddedd44961" /><Relationship Type="http://schemas.openxmlformats.org/officeDocument/2006/relationships/slide" Target="/ppt/slides/slide1.xml" Id="R7236373d2f0e4f39" /><Relationship Type="http://schemas.openxmlformats.org/officeDocument/2006/relationships/slide" Target="/ppt/slides/slide2.xml" Id="Rd082c6134ca948bc" /><Relationship Type="http://schemas.openxmlformats.org/officeDocument/2006/relationships/slide" Target="/ppt/slides/slide3.xml" Id="R8a5c4c420efa468f" /><Relationship Type="http://schemas.openxmlformats.org/officeDocument/2006/relationships/slide" Target="/ppt/slides/slide4.xml" Id="Ra5fa49e5161c4479" /><Relationship Type="http://schemas.openxmlformats.org/officeDocument/2006/relationships/slide" Target="/ppt/slides/slide5.xml" Id="R8db1f3950f7a450c" /><Relationship Type="http://schemas.openxmlformats.org/officeDocument/2006/relationships/slide" Target="/ppt/slides/slide6.xml" Id="Rb5618fdcee8a43b8" /><Relationship Type="http://schemas.openxmlformats.org/officeDocument/2006/relationships/slide" Target="/ppt/slides/slide7.xml" Id="R19fae8860481456d" /><Relationship Type="http://schemas.openxmlformats.org/officeDocument/2006/relationships/slide" Target="/ppt/slides/slide8.xml" Id="R85253cd98b0c4d73" /><Relationship Type="http://schemas.openxmlformats.org/officeDocument/2006/relationships/slide" Target="/ppt/slides/slide9.xml" Id="R3e85cac281c64aed" /><Relationship Type="http://schemas.openxmlformats.org/officeDocument/2006/relationships/slide" Target="/ppt/slides/slide10.xml" Id="R47bc417363524d5d" /><Relationship Type="http://schemas.openxmlformats.org/officeDocument/2006/relationships/slide" Target="/ppt/slides/slide11.xml" Id="R42d0acb259504b5d" /><Relationship Type="http://schemas.openxmlformats.org/officeDocument/2006/relationships/slide" Target="/ppt/slides/slide12.xml" Id="R06ca769e902f417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353f715a02b481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05656292eb3430f" /><Relationship Type="http://schemas.openxmlformats.org/officeDocument/2006/relationships/notesMaster" Target="/ppt/notesMasters/notesMaster1.xml" Id="Rdec834d722014f6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4ced209a425490c" /><Relationship Type="http://schemas.openxmlformats.org/officeDocument/2006/relationships/notesMaster" Target="/ppt/notesMasters/notesMaster1.xml" Id="Ra608e6bde3af443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15dec2245ba4c95" /><Relationship Type="http://schemas.openxmlformats.org/officeDocument/2006/relationships/notesMaster" Target="/ppt/notesMasters/notesMaster1.xml" Id="Rf5651be2dd99416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e5df1621d7140d9" /><Relationship Type="http://schemas.openxmlformats.org/officeDocument/2006/relationships/notesMaster" Target="/ppt/notesMasters/notesMaster1.xml" Id="Rbc501e16f636429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a2f838f5d514d65" /><Relationship Type="http://schemas.openxmlformats.org/officeDocument/2006/relationships/notesMaster" Target="/ppt/notesMasters/notesMaster1.xml" Id="R6b3144646adb479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792a53238624e16" /><Relationship Type="http://schemas.openxmlformats.org/officeDocument/2006/relationships/notesMaster" Target="/ppt/notesMasters/notesMaster1.xml" Id="R2d2fae1e823148b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21c2e74b63e4259" /><Relationship Type="http://schemas.openxmlformats.org/officeDocument/2006/relationships/notesMaster" Target="/ppt/notesMasters/notesMaster1.xml" Id="R18200adfc364439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5dad16c47dd416e" /><Relationship Type="http://schemas.openxmlformats.org/officeDocument/2006/relationships/notesMaster" Target="/ppt/notesMasters/notesMaster1.xml" Id="R21ed0f538276459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6a63b70ac2649b0" /><Relationship Type="http://schemas.openxmlformats.org/officeDocument/2006/relationships/notesMaster" Target="/ppt/notesMasters/notesMaster1.xml" Id="R1901b64a55324b3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33ff4990fb3431c" /><Relationship Type="http://schemas.openxmlformats.org/officeDocument/2006/relationships/notesMaster" Target="/ppt/notesMasters/notesMaster1.xml" Id="R8a2921dbc387496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9900556ea6447f8" /><Relationship Type="http://schemas.openxmlformats.org/officeDocument/2006/relationships/notesMaster" Target="/ppt/notesMasters/notesMaster1.xml" Id="R12599e13e71f4a8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a19329536484083" /><Relationship Type="http://schemas.openxmlformats.org/officeDocument/2006/relationships/notesMaster" Target="/ppt/notesMasters/notesMaster1.xml" Id="R9592e54cea9547e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발표 목표는 완성 홍보가 아니라 현재 구현의 경계와 검증이 필요한 선택을 멘토와 함께 정하는 것입니다. 화면 캡처는 2026-10-20 로컬 개발 앱에서 직접 취득했습니다. 주요 근거: docs/local-eum/README.md, src/App.jsx.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문제 정의는 현재 서비스 가설입니다. 지불 의사나 시장 규모를 조사로 입증한 사실처럼 말하지 않습니다. 검증 질문은 외부 여행자·호스트의 인터뷰와 유료 전환 테스트가 필요합니다.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화면 경로는 src/App.jsx와 src/pages/local-eum의 라우트 구성에서 확인했습니다. 공개 체험은 Supabase PUBLISHED 조회, 신청은 lc_submit_experience_application RPC 경로를 사용합니다. 회차 선택·신청의 노출은 실제 공개 화면 캡처로 확인했습니다.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세 장의 화면은 2026-10-20 로컬 개발 앱을 Edge headless 브라우저로 실제 렌더링해 캡처했습니다. URL은 /local-eum, /local-eum/experiences/113, /local-eum/host/profile?demo=1 입니다. 공개 운영 서버의 캡처가 아니며, 공개 호스트 데모 화면은 가상 데이터를 표시합니다.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2026-10-20 Supabase local-eum-dev 프로젝트에 read-only SQL 조회를 수행했습니다. 집계: hosts 2, experiences 15, experience_steps 68, sessions 19, applications 1, lc_application_payments 1. 113/114/115는 각각 17/18/19 회차, PUBLISHED/RECRUITING, 표시 참가비 10,000/0/10,000원이며 available_languages 길이는 0. 사용자 개인정보는 읽거나 슬라이드에 포함하지 않았습니다. 적용 기록: docs/local-eum/migrations/20261020_language_friends_publish.applied.md.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실제 연결: src/App.jsx, src/components/header.jsx; Supabase client src/pages/local-eum/... 및 supabase/functions/local-eum-agent/index.ts. DB는 Supabase 프로젝트 local-eum-dev입니다. Codyssey API 비밀키는 Edge Function secret로만 관리됩니다. 팀 Oracle은 다른 영역이며 로컬이음이 대체하지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코드 근거: supabase/functions/local-eum-agent/agent-core.mjs와 codyssey-client.mjs. Adapter는 COPA Chat Completions의 JSON 응답을 정해진 함수 인자로 변환하고, Edge가 서버 도구를 실행합니다. 모델이 SQL/도구를 직접 실행하지 않습니다. 화면 AiExperienceAgent.jsx에서는 검토 체크 후 소개란에 복사, 저장은 일반 HOST 폼에서 별도로 합니다. Deno tests는 16개 통과했던 PR #13 검증 기록이며, 현재 이 문서 작업 중 유료 AI 호출을 수행하지 않았습니다.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원격 read-only 조회에서 #113–#115의 available_languages cardinality 0. 코드 근거: localEumI18n.js, experiencePresentation.js, maps/PlaceMap.jsx. DB 번역 적용 기록은 README와 migrations에 있으며, 이번 작업의 수치는 2026-10-20 DB 조회로 확인했습니다.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main HEAD는 79374c262707e71440767f483d928e248e7a0d19이며 커밋 제목에 PR #13이 표시됩니다. PR13 검증 기록은 Local Eum node tests 56개, AI Edge Deno tests 16개, build/lint pass with existing warnings. Team regression 48/49 pass; existing failure `trendingPlaceDetails.test.js`는 로컬이음 변경이 없는 팀 파일로 기록됨. 이 검증은 현 브랜치에서 재실행 예정입니다. 실사용자 5명 테스트/피드백 반영은 미완료.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호스트 실 조작의 경계는 docs/local-eum/migrations/20261020_language_friends_and_host_lifecycle.applied.md 및 docs/local-eum/host-operations-guide.md를 참조하십시오. 기존 기록은 HOST #500 테스트 전용 회차 생성·취소를 확인했고, HOST #501 접근 차단은 RLS 결과를 확인하되 직접 JWT 브라우저 조작은 완전히 검증하지 못했다고 기록합니다. ADMIN 실조작은 미검증입니다. Busan 0원은 fee_amount 표시 값이며 결제 모듈이 없습니다.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질문은 현재 근거의 빈칸과 결정 대안을 연결하도록 구성했습니다. 특히 AI 기술 진화보다 먼저 고객이 실제로 지불할 경험인지 검증하는 것이 사업·개발 우선순위의 핵심 판단입니다.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4단계는 제안이지 현재 완료된 계획 승인 사항이 아닙니다. 멘토링에서 한정된 캡스톤 기간에 필요한 목표·측정치·제외 범위를 정합니다.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df7b45eb0f4b1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bb65f1ccde4f3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10bc44d1aa4a0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bc80e7a66745d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7f72ad2c7942b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66783dd76c4be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4618DEF-C3FC-42D4-B63A-788DBDA601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C9F1333-A31E-4EDA-931D-48484C1DFDB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6E6927F-7AA8-4746-A93C-5E16615BBA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A757256-BC37-4ED8-8D4C-447A244CB4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D06BCFD-0366-44C2-9E27-B2D0ABC5E6E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C0CE1CF-F8D6-4672-B998-A5523B506D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E9A0118-F0DD-48BE-82F0-55C29F61E54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08A5369-89BF-4A46-8DF8-E3FBC67953F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D23ED32-4B32-4442-88B0-E36BCD4C6A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759E29B-3E0E-43FD-A255-F2A529665E0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e0967cb3d794675" /><Relationship Type="http://schemas.openxmlformats.org/officeDocument/2006/relationships/slideLayout" Target="/ppt/slideLayouts/slideLayout1.xml" Id="Rc418e91ee4524098" /><Relationship Type="http://schemas.openxmlformats.org/officeDocument/2006/relationships/slideLayout" Target="/ppt/slideLayouts/slideLayout2.xml" Id="R985eede2efb4431c" /><Relationship Type="http://schemas.openxmlformats.org/officeDocument/2006/relationships/slideLayout" Target="/ppt/slideLayouts/slideLayout3.xml" Id="R791e982974184627" /><Relationship Type="http://schemas.openxmlformats.org/officeDocument/2006/relationships/slideLayout" Target="/ppt/slideLayouts/slideLayout4.xml" Id="R26aae561e6c24318" /><Relationship Type="http://schemas.openxmlformats.org/officeDocument/2006/relationships/slideLayout" Target="/ppt/slideLayouts/slideLayout5.xml" Id="R5dd32b65817b4368" /><Relationship Type="http://schemas.openxmlformats.org/officeDocument/2006/relationships/slideLayout" Target="/ppt/slideLayouts/slideLayout6.xml" Id="R758cf8185a6247c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418e91ee4524098"/>
    <p:sldLayoutId xmlns:r="http://schemas.openxmlformats.org/officeDocument/2006/relationships" id="2147483650" r:id="R985eede2efb4431c"/>
    <p:sldLayoutId xmlns:r="http://schemas.openxmlformats.org/officeDocument/2006/relationships" id="2147483651" r:id="R791e982974184627"/>
    <p:sldLayoutId xmlns:r="http://schemas.openxmlformats.org/officeDocument/2006/relationships" id="2147483652" r:id="R26aae561e6c24318"/>
    <p:sldLayoutId xmlns:r="http://schemas.openxmlformats.org/officeDocument/2006/relationships" id="2147483653" r:id="R5dd32b65817b4368"/>
    <p:sldLayoutId xmlns:r="http://schemas.openxmlformats.org/officeDocument/2006/relationships" id="2147483654" r:id="R758cf8185a6247c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302ffdec9743f9" /><Relationship Type="http://schemas.openxmlformats.org/officeDocument/2006/relationships/image" Target="/ppt/media/image.png" Id="R1f49c44353d643dc" /><Relationship Type="http://schemas.openxmlformats.org/officeDocument/2006/relationships/notesSlide" Target="/ppt/notesSlides/notesSlide1.xml" Id="R22f39a3127fc437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c49bb74bea4cde" /><Relationship Type="http://schemas.openxmlformats.org/officeDocument/2006/relationships/notesSlide" Target="/ppt/notesSlides/notesSlide2.xml" Id="Ra38dfe2ec083481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967187a1034aa6" /><Relationship Type="http://schemas.openxmlformats.org/officeDocument/2006/relationships/notesSlide" Target="/ppt/notesSlides/notesSlide3.xml" Id="R100f0a25c29b465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b4cc1a97b34b3b" /><Relationship Type="http://schemas.openxmlformats.org/officeDocument/2006/relationships/image" Target="/ppt/media/image2.png" Id="Rc34eac48d2e547ac" /><Relationship Type="http://schemas.openxmlformats.org/officeDocument/2006/relationships/image" Target="/ppt/media/image3.png" Id="R47007f734c7e4679" /><Relationship Type="http://schemas.openxmlformats.org/officeDocument/2006/relationships/image" Target="/ppt/media/image4.png" Id="R27f9053a638f44b9" /><Relationship Type="http://schemas.openxmlformats.org/officeDocument/2006/relationships/notesSlide" Target="/ppt/notesSlides/notesSlide4.xml" Id="Ra4f9c9f33c0a485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920c4134b94acd" /><Relationship Type="http://schemas.openxmlformats.org/officeDocument/2006/relationships/notesSlide" Target="/ppt/notesSlides/notesSlide5.xml" Id="R26eea2560c18407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ccf12aeb944f34" /><Relationship Type="http://schemas.openxmlformats.org/officeDocument/2006/relationships/notesSlide" Target="/ppt/notesSlides/notesSlide6.xml" Id="R9546ef6a4f2f48d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c2fd1ce26946c7" /><Relationship Type="http://schemas.openxmlformats.org/officeDocument/2006/relationships/notesSlide" Target="/ppt/notesSlides/notesSlide7.xml" Id="R986346fdb52f4fe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94f54f2ae142c4" /><Relationship Type="http://schemas.openxmlformats.org/officeDocument/2006/relationships/notesSlide" Target="/ppt/notesSlides/notesSlide8.xml" Id="Rbf35e63e8f5e4d9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dcd89d10b14535" /><Relationship Type="http://schemas.openxmlformats.org/officeDocument/2006/relationships/notesSlide" Target="/ppt/notesSlides/notesSlide9.xml" Id="R7912d9774751469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e90d68c06f4671" /><Relationship Type="http://schemas.openxmlformats.org/officeDocument/2006/relationships/notesSlide" Target="/ppt/notesSlides/notesSlide10.xml" Id="R47e629ea25c5412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6b318ba5be444f9" /><Relationship Type="http://schemas.openxmlformats.org/officeDocument/2006/relationships/notesSlide" Target="/ppt/notesSlides/notesSlide11.xml" Id="R5e1b628c2d29478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b917655f8b4ed9" /><Relationship Type="http://schemas.openxmlformats.org/officeDocument/2006/relationships/notesSlide" Target="/ppt/notesSlides/notesSlide12.xml" Id="Rd1c7cd3fe34447a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92C4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F6D178-6A6E-46A2-9AE7-76512AB23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rPr>
              <a:t>MENTORING SESSION  ·  15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E36CF0-34DC-42F6-9EC3-DB4C39930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로컬이음, 지역의 만남을 체험으로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E56091-D9C1-4E65-A5C9-625490C47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5334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3D1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4B28AA-26A8-4EEA-9E9D-538E5FEAC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rPr>
              <a:t>LOCAL EUM  ·  멘토링 브리프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EE8E6F-04A6-4416-8C89-36C248CDA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rPr>
              <a:t>01 / 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890BB6-A269-4DF4-A943-42B9436F3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619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4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여행, 한걸음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AEBC9A-C4AD-456A-A355-24C8EB7F1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561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3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rPr>
              <a:t>LOCAL EUM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162814-3990-4E20-B1A6-634FF8F79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5095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여행에서 만남으로,</a:t>
            </a:r>
          </a:p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만남에서 새로운 경험으로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899C52-174A-472F-B1FC-8D2F16B37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4857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rPr>
              <a:t>지역 호스트의 체험을 찾고 신청하는 흐름과</a:t>
            </a:r>
          </a:p>
          <a:p xmlns:a="http://schemas.openxmlformats.org/drawingml/2006/main">
            <a:pPr algn="l">
              <a:defRPr sz="1500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rPr>
              <a:t>호스트 운영·AI 기획 지원을 연결합니다.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C40ED3-A63E-4F25-981C-1D2FB15AB5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49c44353d643dc"/>
          <a:srcRect xmlns:a="http://schemas.openxmlformats.org/drawingml/2006/main" l="189" t="0" r="18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2250" y="1752600"/>
            <a:ext cx="50101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DB9F44-D465-4DB3-AA98-44EC750E0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067300"/>
            <a:ext cx="17335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F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DBA588-C9E3-4682-BCF9-C852586A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14925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rPr>
              <a:t>실제 UI 캡처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63E3B4-0793-4F4E-8304-199AC92CD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D8E5E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D8E5E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D8E5E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D8E5E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D8E5E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D8E5E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D8E5E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D8E5E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D8E5E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D8E5E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D8E5E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D8E5ED"/>
                </a:solidFill>
                <a:latin typeface="Malgun Gothic"/>
                <a:ea typeface="Malgun Gothic"/>
                <a:cs typeface="Malgun Gothic"/>
              </a:rPr>
              <a:t>멘토링 목표  ·  무엇을 검증하고, 다음에 무엇을 만들지 결정하기</a:t>
            </a:r>
          </a:p>
        </p:txBody>
      </p:sp>
    </p:spTree>
    <p:extLst>
      <p:ext uri="{BB962C8B-B14F-4D97-AF65-F5344CB8AC3E}">
        <p14:creationId xmlns:p14="http://schemas.microsoft.com/office/powerpoint/2010/main" val="212611487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B291C5-819E-415B-8840-3DC9CAAFC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WHY LOCAL EUM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F0E080-EF95-4FA5-9F47-062E6787D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관광 정보와 “돈을 내고 싶은 경험” 사이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CC795C-BAD5-487D-841F-19D2DC639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5334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9B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5AB360-FA6F-4C84-8636-D5933B4EF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LOCAL EUM  ·  멘토링 브리프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A26301-6300-400E-9B5F-20FCCA07E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02 / 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A96532-325A-46EA-A8E2-79A02073B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5048250" cy="219075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7FB8EC-EFDD-454E-B1CB-0ED127F69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66675" cy="21907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E78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1BC917-9B0A-428D-9853-75B53E96B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47850"/>
            <a:ext cx="4629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여행자 문제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024EB4-0532-4358-8E28-BBA8A6E94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47900"/>
            <a:ext cx="46291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지역 주민과 함께하는 경험을 찾기 어렵고,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가격·진행 언어·시간·집결 정보가 흩어져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참여 전에 신뢰와 가치를 판단하기 어렵습니다.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52CFE9-7B18-4C69-B4E9-F91EDEB69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76400"/>
            <a:ext cx="5657850" cy="219075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FC2614-1554-4622-875A-0266F47C8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76400"/>
            <a:ext cx="66675" cy="21907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29B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8B9345-FE07-45CA-9245-43AA0B7AF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847850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호스트 문제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F20378-4E4B-462D-A33D-79A17F0C8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247900"/>
            <a:ext cx="52387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아이디어를 운영 가능한 일정·안전 안내·가격으로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구체화하고, 여러 체험의 회차와 신청자를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일관되게 관리하기가 어렵습니다.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8D81EC-E34A-44CF-AAB1-A8FD0E2EB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43375"/>
            <a:ext cx="109728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11FF89-F262-42AE-BF1A-CEC31B103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핵심 가설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049039-4FA4-4D3D-ACA0-9B7BDEE70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1000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단순히 장소를 방문하는 것만으로는 부족합니다.</a:t>
            </a:r>
          </a:p>
          <a:p xmlns:a="http://schemas.openxmlformats.org/drawingml/2006/main">
            <a:pPr algn="l">
              <a:defRPr sz="18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호스트의 해석·참여·기억할 결과가 실제 지불 이유인지 확인해야 합니다.</a:t>
            </a:r>
          </a:p>
        </p:txBody>
      </p:sp>
    </p:spTree>
    <p:extLst>
      <p:ext uri="{BB962C8B-B14F-4D97-AF65-F5344CB8AC3E}">
        <p14:creationId xmlns:p14="http://schemas.microsoft.com/office/powerpoint/2010/main" val="4453313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55D517E-D347-4B27-981C-38FAC6946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SERVICE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468372-51E3-4E04-BDAA-3019722D9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한 서비스 안에서 여행자와 호스트의 흐름을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E260E0-740A-425A-A7BF-FF2419520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5334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9B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F213FB-90B1-4173-B0BB-0109E0261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LOCAL EUM  ·  멘토링 브리프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4847A1-1FFB-4C32-9209-C91B1F344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03 / 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C93678-CD86-49CA-92AC-A8043106C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rPr>
              <a:t>여행자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CD8533-B3D6-4A7C-8975-99F607021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2343150" cy="8382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A312DF-897C-4C53-9ADB-0273FA10A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342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BD34AF-3D2A-4FCC-9CC1-861A96D88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146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체험 검색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B38374-F1B4-4178-B3A3-B76D64D0E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3241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35AB9C-15C3-4792-989F-75DC332CF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57400"/>
            <a:ext cx="2343150" cy="8382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09F9F1-AF0F-410C-B009-EA5D9FB2C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190750"/>
            <a:ext cx="342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A32378-91A7-4655-A43D-EBCEC4B54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5146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상세·호스트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14CB13-F18C-4BE6-9377-E9236C2E1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3241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52CA9E-4FD7-47E0-AC57-9D8AAA3BA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057400"/>
            <a:ext cx="2343150" cy="8382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2AB3A6-904B-4758-99E5-A10D28349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90750"/>
            <a:ext cx="342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FB9C8A-2F2B-4DC8-B1C3-A76DE6A9C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146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회차 선택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B65D3F-FF56-4F13-8268-BDC270F1A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241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30CBDE-E31B-41B5-86F1-4D34731AF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057400"/>
            <a:ext cx="2343150" cy="8382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E6F4F2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018AC7-5603-410E-BD8B-9B427B244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190750"/>
            <a:ext cx="342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199EB3-31FA-47FC-A922-0E836308F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5146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신청·접수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2450A2-DFE4-42A8-AA8C-8A09F481E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rPr>
              <a:t>호스트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3628EE-A9C8-467D-8400-7A5F4FE5A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29025"/>
            <a:ext cx="2343150" cy="8382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E754F2-292D-4748-9695-A98AE051B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342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A3E459-BE53-4FAB-AFC3-11D60F680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862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로그인·내 체험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176119D-4218-4D7E-91B1-2C8249EC2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89572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27DE905-CE80-4995-8BC0-55F446327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629025"/>
            <a:ext cx="2343150" cy="8382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713E71-FC55-4D6A-818E-5716FA21B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762375"/>
            <a:ext cx="342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4847B50-65DA-4996-BAB5-ECD5CB037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0862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회차 운영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9E45E6-A818-4DE9-8F41-D9DD761CE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89572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0F7CFBD-76D9-47EF-9A01-FDC3E4FE4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629025"/>
            <a:ext cx="2343150" cy="8382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F3B793E-5D24-4BF8-807B-FC403F841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62375"/>
            <a:ext cx="342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CDC8452-C42A-4DCC-8524-E333728C7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0862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신청자 관리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99D3ABA-C613-42E6-A703-E5C8197F5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89572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A23E3CE-4DFA-4B26-B781-B14D07612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629025"/>
            <a:ext cx="2343150" cy="8382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EAF3FA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8EA5481-C631-46C6-82DC-D2E7FCEC6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762375"/>
            <a:ext cx="342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00838BF-1EBA-498B-A8FA-13B516546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0862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AI 제안 검토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36F6256-F3ED-456F-94D6-C726AF3F5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109728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7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DCEDB8B-7893-40C7-A542-35FFFF80C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95875"/>
            <a:ext cx="10439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경계  ·  신청·접수는 구현되어 있지만, 결제는 시연 안내이며 실제 결제·환불은 제공하지 않습니다.</a:t>
            </a:r>
          </a:p>
          <a:p xmlns:a="http://schemas.openxmlformats.org/drawingml/2006/main">
            <a: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호스트의 편집·신청자 조회는 로그인 권한과 RLS의 영향을 받습니다.</a:t>
            </a:r>
          </a:p>
        </p:txBody>
      </p:sp>
    </p:spTree>
    <p:extLst>
      <p:ext uri="{BB962C8B-B14F-4D97-AF65-F5344CB8AC3E}">
        <p14:creationId xmlns:p14="http://schemas.microsoft.com/office/powerpoint/2010/main" val="19696706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9AFDD4-8DAC-4EBD-8F90-A360EDF1B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LIVE UI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387D3E-F5AF-48E4-A339-D60CFC496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화면으로 확인한 현재 구현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7FF751-83BC-420A-8C48-81398FD60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5334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9B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688982-B374-46B8-A640-0DED7011C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LOCAL EUM  ·  멘토링 브리프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25E541-1F58-48D6-A749-211BA6653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04 / 12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4774DA-7D8D-4E15-BB7E-E7E416B0C58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4eac48d2e547ac"/>
          <a:srcRect xmlns:a="http://schemas.openxmlformats.org/drawingml/2006/main" l="7933" t="0" r="793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657350"/>
            <a:ext cx="3333750" cy="2476500"/>
          </a:xfrm>
          <a:prstGeom xmlns:a="http://schemas.openxmlformats.org/drawingml/2006/main" prst="roundRect">
            <a:avLst>
              <a:gd name="adj" fmla="val 4615"/>
            </a:avLst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7A92AF-3EBA-48EB-9464-D97600387FD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007f734c7e4679"/>
          <a:srcRect xmlns:a="http://schemas.openxmlformats.org/drawingml/2006/main" l="7933" t="0" r="793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29125" y="1657350"/>
            <a:ext cx="3333750" cy="2476500"/>
          </a:xfrm>
          <a:prstGeom xmlns:a="http://schemas.openxmlformats.org/drawingml/2006/main" prst="roundRect">
            <a:avLst>
              <a:gd name="adj" fmla="val 4615"/>
            </a:avLst>
          </a:prstGeom>
        </p:spPr>
      </p:pic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3B138C-DDF7-463C-B0AD-5AF35DED42A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f9053a638f44b9"/>
          <a:srcRect xmlns:a="http://schemas.openxmlformats.org/drawingml/2006/main" l="7933" t="0" r="793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48650" y="1657350"/>
            <a:ext cx="3333750" cy="2476500"/>
          </a:xfrm>
          <a:prstGeom xmlns:a="http://schemas.openxmlformats.org/drawingml/2006/main" prst="roundRect">
            <a:avLst>
              <a:gd name="adj" fmla="val 4615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3D2B05-1295-4032-9C30-8FD2EABA4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3333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01  공개 체험 목록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ECA01A-E1BC-42B1-8D71-03B5E3CA5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지역·관심분야 필터와</a:t>
            </a:r>
          </a:p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공개 체험 15개 표시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EA671B-5961-4515-8A72-80230A10A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305300"/>
            <a:ext cx="3333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02  상세·회차·신청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F714E9-28E0-444C-A733-B08B08CC2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66725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장소·시간·참가비와</a:t>
            </a:r>
          </a:p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신청 진입 버튼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2F5BB0-B817-4211-8A27-CBC7EBFD1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305300"/>
            <a:ext cx="3333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03  호스트 공개 데모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FB69B0-2F2E-4EA6-9FD6-9D50015D6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66725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가상 데이터·읽기 전용</a:t>
            </a:r>
          </a:p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실제 HOST 정보는 미노출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C45BD0-7FFB-457D-9B81-95B196F40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3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BEF97C-1505-446E-A5CE-B69EEC8E9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43575"/>
            <a:ext cx="10572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12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12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12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12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12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12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12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12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12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주의  ·  카드 이미지는 앱에서 AI 생성 이미지로 표시됩니다. 화면은 로컬 개발 환경의 실제 렌더링 캡처입니다.</a:t>
            </a:r>
          </a:p>
        </p:txBody>
      </p:sp>
    </p:spTree>
    <p:extLst>
      <p:ext uri="{BB962C8B-B14F-4D97-AF65-F5344CB8AC3E}">
        <p14:creationId xmlns:p14="http://schemas.microsoft.com/office/powerpoint/2010/main" val="174146587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07473BE-008D-45AF-A257-BC29EEFF0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DATA MODEL  ·  READ-ONLY SNAPSHOT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AAA134-3F3F-4122-BA60-478A53734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Supabase 실제 조회: 작은 운영 데이터와 명확한 관계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1CD50B-FA9A-443A-B34B-8DAB6116D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5334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9B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00AA51-C4AA-45D1-97A1-74D8ADD73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LOCAL EUM  ·  멘토링 브리프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719487-A320-4C79-BAB4-2A75795FA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05 / 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5647E3-5751-49D0-B2DE-26F44BFF1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3390900" cy="685800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CEDCD2-72B0-453B-A4A5-26BB31D31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716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호스트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9A646E-DB6E-4DE0-9C15-C046399A9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71650"/>
            <a:ext cx="647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A55F6F-650C-422F-BA60-E1BCA630A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57350"/>
            <a:ext cx="3390900" cy="685800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4285EA-8A22-4993-BCD1-E31A7163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7716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체험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24E56B-3096-401F-ACBD-60A34DA04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71650"/>
            <a:ext cx="647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rPr>
              <a:t>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7971C8-9224-4BBD-8F3A-8E74802FE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57350"/>
            <a:ext cx="3390900" cy="685800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85A074-EDFE-4E2C-878A-8DADF105A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7716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운영 회차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0657F0-DAB4-4D46-9989-E7211A229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771650"/>
            <a:ext cx="647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rPr>
              <a:t>19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FFA863-26C3-443E-8592-5E194E7E2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33650"/>
            <a:ext cx="3390900" cy="685800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60C642-36CC-4ED5-94D6-FDEC74C99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479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일정 단계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381500-5CE8-4267-AD47-956D27ACB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647950"/>
            <a:ext cx="647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rPr>
              <a:t>68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2FED2F-0B8C-4279-B67F-C4DA22C7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33650"/>
            <a:ext cx="3390900" cy="685800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082255-03DD-4797-AC16-53DCAAD03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479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신청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502C36-22BB-4BFA-8524-0FFAC08EE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647950"/>
            <a:ext cx="647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1EC1D8-65E3-4BD9-985A-39693D285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533650"/>
            <a:ext cx="3390900" cy="685800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813338-F0A6-4ABB-A76A-B34E3492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6479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시연 결제 안내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85B7E5-C0B9-46A6-A6E1-5FCFB6864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647950"/>
            <a:ext cx="647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92CBA4-F199-489C-88C4-67531DE50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752600" cy="800100"/>
          </a:xfrm>
          <a:prstGeom xmlns:a="http://schemas.openxmlformats.org/drawingml/2006/main" prst="roundRect">
            <a:avLst>
              <a:gd name="adj" fmla="val 15476"/>
            </a:avLst>
          </a:prstGeom>
          <a:solidFill xmlns:a="http://schemas.openxmlformats.org/drawingml/2006/main">
            <a:srgbClr val="EAF3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207874-AA85-430A-8F68-6897C23F0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0"/>
            <a:ext cx="1485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HOST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A6E3091-FD79-47E6-8C9E-CF87FD4CD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24350"/>
            <a:ext cx="1562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lc_hosts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54680C6-54FE-49B1-B9DE-FE10B97C1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857625"/>
            <a:ext cx="1752600" cy="800100"/>
          </a:xfrm>
          <a:prstGeom xmlns:a="http://schemas.openxmlformats.org/drawingml/2006/main" prst="roundRect">
            <a:avLst>
              <a:gd name="adj" fmla="val 15476"/>
            </a:avLst>
          </a:prstGeom>
          <a:solidFill xmlns:a="http://schemas.openxmlformats.org/drawingml/2006/main">
            <a:srgbClr val="EAF3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E47F0A-2EDC-4990-BE37-D5C769D44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000500"/>
            <a:ext cx="1485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체험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2590E8D-C303-4AB1-AE09-919980817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324350"/>
            <a:ext cx="1562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lc_experiences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8233631-DD72-4BDA-9587-DE3C2EE79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857625"/>
            <a:ext cx="1752600" cy="800100"/>
          </a:xfrm>
          <a:prstGeom xmlns:a="http://schemas.openxmlformats.org/drawingml/2006/main" prst="roundRect">
            <a:avLst>
              <a:gd name="adj" fmla="val 15476"/>
            </a:avLst>
          </a:prstGeom>
          <a:solidFill xmlns:a="http://schemas.openxmlformats.org/drawingml/2006/main">
            <a:srgbClr val="EAF3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3786B61-71C9-4DD6-928F-BE2A93488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000500"/>
            <a:ext cx="1485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회차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1B2BD37-C675-4071-BD44-D2E217F36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324350"/>
            <a:ext cx="1562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lc_sessions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7F7A72C-CD4C-41F5-831C-C34472A15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857625"/>
            <a:ext cx="1752600" cy="800100"/>
          </a:xfrm>
          <a:prstGeom xmlns:a="http://schemas.openxmlformats.org/drawingml/2006/main" prst="roundRect">
            <a:avLst>
              <a:gd name="adj" fmla="val 15476"/>
            </a:avLst>
          </a:prstGeom>
          <a:solidFill xmlns:a="http://schemas.openxmlformats.org/drawingml/2006/main">
            <a:srgbClr val="EAF3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7A12C99-5B2D-4993-9023-BA77A2494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000500"/>
            <a:ext cx="1485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신청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FC0D060-526D-438F-A341-F2AAD463B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324350"/>
            <a:ext cx="1562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lc_applications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8CAF684-B024-47E8-B76E-88D2E6341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857625"/>
            <a:ext cx="1752600" cy="800100"/>
          </a:xfrm>
          <a:prstGeom xmlns:a="http://schemas.openxmlformats.org/drawingml/2006/main" prst="roundRect">
            <a:avLst>
              <a:gd name="adj" fmla="val 15476"/>
            </a:avLst>
          </a:prstGeom>
          <a:solidFill xmlns:a="http://schemas.openxmlformats.org/drawingml/2006/main">
            <a:srgbClr val="EAF3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B925DC5-7CA0-4914-866B-29AEE3AE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000500"/>
            <a:ext cx="1485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결제 안내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F049574-75FC-4FE9-BCF9-1D85BFF3B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324350"/>
            <a:ext cx="1562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lc_application_payments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3D7D625-5144-4D0A-9477-1954A0A3C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105275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667"/>
          </a:bodyPr>
          <a:lstStyle xmlns:a="http://schemas.openxmlformats.org/drawingml/2006/main">
            <a:def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AE5FEC1-19AA-4F28-B2C6-867EEE9D8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105275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667"/>
          </a:bodyPr>
          <a:lstStyle xmlns:a="http://schemas.openxmlformats.org/drawingml/2006/main">
            <a:def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358595F-49E0-42DB-8DFC-C210CAC13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105275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667"/>
          </a:bodyPr>
          <a:lstStyle xmlns:a="http://schemas.openxmlformats.org/drawingml/2006/main">
            <a:def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6265CEF-E41A-4FB9-B330-C6898044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05275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667"/>
          </a:bodyPr>
          <a:lstStyle xmlns:a="http://schemas.openxmlformats.org/drawingml/2006/main">
            <a:def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BCCAD88-0FF8-4964-97E6-1CD762385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서울·부산·창원 언어·친구 3건은 PUBLISHED, 연결 회차는 RECRUITING.</a:t>
            </a:r>
          </a:p>
          <a:p xmlns:a="http://schemas.openxmlformats.org/drawingml/2006/main">
            <a: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진행 가능 언어는 3건 모두 미확인 빈 배열이며, 0원 회차 1건은 실제 결제가 연결된 뜻이 아닙니다.</a:t>
            </a:r>
          </a:p>
        </p:txBody>
      </p:sp>
    </p:spTree>
    <p:extLst>
      <p:ext uri="{BB962C8B-B14F-4D97-AF65-F5344CB8AC3E}">
        <p14:creationId xmlns:p14="http://schemas.microsoft.com/office/powerpoint/2010/main" val="35798119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1586798-C8A8-4056-83F6-B1EE06F67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SYSTEM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A0BC47-C455-481A-95D1-A81ECAC23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팀 공통 React 안의 로컬이음, 데이터는 Supabase로 분리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F8EC4C-FFB1-43A2-AAFB-6C9EB7805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5334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9B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531F1D-2502-4229-A61C-3EB983827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LOCAL EUM  ·  멘토링 브리프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033D60-8D46-4DC8-8247-7090BEF61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06 / 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0C903B-7A92-4C16-953B-E111DC394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7143750" cy="3429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51DED6-5487-4395-869C-16D0A4D5A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38325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여행자·HOST 브라우저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8755C6-8B74-4FC8-9008-05AA0B8C2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4100"/>
            <a:ext cx="2286000" cy="9906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3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64D4E4-F999-4FBF-9304-82C84E1F6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495550"/>
            <a:ext cx="1866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React + Vite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64C088-BC77-4678-B1DA-69063367C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83845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993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공통 Header / App 라우터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/local-eum 화면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027264-C451-4E96-B5D9-B06E3F41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324100"/>
            <a:ext cx="3314700" cy="9906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6F4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352D68-C405-4AA7-838E-3135750BE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495550"/>
            <a:ext cx="289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Supabase Auth + PostgreSQL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5B5E6E-B6D1-419E-81F2-E5E0C8F42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838450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993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로그인·역할·체험 데이터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RLS가 행 접근을 제한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A865C7-AF42-4664-A894-D78C3C7D6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26670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rPr>
              <a:t>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C07E2F-E03C-434D-BF4B-F0E8B01A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76650"/>
            <a:ext cx="2286000" cy="9906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D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B69114-0519-47BE-9D9F-517775106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848100"/>
            <a:ext cx="1866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450"/>
          </a:bodyPr>
          <a:lstStyle xmlns:a="http://schemas.openxmlformats.org/drawingml/2006/main">
            <a:def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Storage + Kakao Maps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A44C6E-AC57-4DDC-9507-8110DF408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993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체험 이미지와 주소 기반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지도·길찾기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339488-76C4-4F95-B989-3878A2656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676650"/>
            <a:ext cx="3314700" cy="9906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7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F553DA-7450-4A0E-93DF-C551635E8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848100"/>
            <a:ext cx="289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Edge Function: AI Agent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0C0104-234A-4401-AF01-F1F5FFF48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191000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993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HOST 권한 확인 → 도구 실행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→ Codyssey COPA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8B54F4-90C9-42F3-BA99-402D05E0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57350"/>
            <a:ext cx="3429000" cy="1524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8EF397-4D1C-4DC5-B0D2-9CA1F2AC6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57350"/>
            <a:ext cx="66675" cy="15240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06D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F12097-9AB7-45C5-A2FB-C94318DAB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828800"/>
            <a:ext cx="3009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팀의 다른 영역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5619D3-6977-4981-A7D3-0B0A36DE9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247900"/>
            <a:ext cx="3009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383"/>
          </a:bodyPr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일정·검색 등은 Express API와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Oracle을 사용합니다.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로컬이음의 체험·HOST DB는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Supabase PostgreSQL입니다.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CCF9566-E23C-4379-98C6-79CB78860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409950"/>
            <a:ext cx="3429000" cy="16764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912AA4-092A-435F-9A52-BD4A88276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409950"/>
            <a:ext cx="66675" cy="16764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E78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06E423-77A1-469B-A57C-27A5E15D6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581400"/>
            <a:ext cx="3009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연동 접점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CC55983-FA5F-472A-9D13-A35884604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000500"/>
            <a:ext cx="30099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146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공통 Header → 로컬 체험 경로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공통 React 라우터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아직 별도 확인이 필요한 영역: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팀 인증 연계 · 통합 배포 주소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123DE69-79BA-449B-963B-29BF6C24C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설계 선택  ·  기존 팀 앱의 화면·라우팅을 재사용하면서, 체험 운영 데이터는 전용 Supabase 스키마와 RLS로 관리</a:t>
            </a:r>
          </a:p>
        </p:txBody>
      </p:sp>
    </p:spTree>
    <p:extLst>
      <p:ext uri="{BB962C8B-B14F-4D97-AF65-F5344CB8AC3E}">
        <p14:creationId xmlns:p14="http://schemas.microsoft.com/office/powerpoint/2010/main" val="12362749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9D4299D-B584-443D-A7F2-31337B999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AI EXPERIENCE 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BD7420-C066-4E08-BF78-43CD6E562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AI는 답변기가 아니라, 검증된 도구를 순서대로 호출하는 보조자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356BCA-D6AD-476A-B76B-A434858CC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5334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9B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6C47D6-FA35-4304-958F-519BE1450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LOCAL EUM  ·  멘토링 브리프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665221-262D-46EB-81D2-00F35E524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07 / 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B13E6C-E0E0-498A-B246-96FA51D8D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924050" cy="16573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7962EC-30A9-45A6-A193-ACA353089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81200"/>
            <a:ext cx="3429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2C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A226C2-6FFB-4533-9222-B4964E0AB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2882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FDCA4B-2E31-4273-95D5-2E2AB49AF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38400"/>
            <a:ext cx="1581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HOST 요청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B7C59F-AA44-4531-97E1-70E4545B6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5811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현재 체험 분석</a:t>
            </a:r>
          </a:p>
          <a:p xmlns:a="http://schemas.openxmlformats.org/drawingml/2006/main">
            <a: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또는 아이디어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9C82B7-6FC6-460B-8BD0-4372AAB22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2495550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50392E-2A15-46A9-9058-987D6C1E3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1809750"/>
            <a:ext cx="1924050" cy="16573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DB851C-3A73-4353-847B-BAE46A11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1981200"/>
            <a:ext cx="3429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2C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A90327-5ECC-44A2-9A88-3EE155235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02882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67B54A-30E2-4A12-9EFC-388B4CB81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438400"/>
            <a:ext cx="1581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Edge 검증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7DC59C-A1D1-4EE7-9B67-833965939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819400"/>
            <a:ext cx="15811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JWT · HOST 역할</a:t>
            </a:r>
          </a:p>
          <a:p xmlns:a="http://schemas.openxmlformats.org/drawingml/2006/main">
            <a: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소유권 · 입력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DD9E1F-4135-41DD-B569-38CEFE752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495550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326CD2-1DBB-4057-A1EB-6A1D82C32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809750"/>
            <a:ext cx="1924050" cy="16573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E8A1BE-A44E-41AD-BA0E-C55EF09DF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1981200"/>
            <a:ext cx="3429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2C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5731BB-1513-48A9-A5F9-0F810BB31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02882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6AC7B6-8951-43FE-9480-81F1552C7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438400"/>
            <a:ext cx="1581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JSON 인자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29EB39-B87B-4D6E-9340-AD65E248D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819400"/>
            <a:ext cx="15811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모델은 허용 도구의</a:t>
            </a:r>
          </a:p>
          <a:p xmlns:a="http://schemas.openxmlformats.org/drawingml/2006/main">
            <a: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인자만 제안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216CBD-0577-499F-A6B3-91C1C489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495550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EA71A3-144B-4A6A-A2EC-B6C968257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1809750"/>
            <a:ext cx="1924050" cy="16573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729137-5B0A-40F0-A8E4-1021CD6DB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1981200"/>
            <a:ext cx="3429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2C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11BBE4-4E0E-4174-AB59-CE37A216A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02882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E8252F-79DC-4C12-8A49-6507DC0F7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2438400"/>
            <a:ext cx="1581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서버 도구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6D103D3-E9DD-45F7-BC82-CAFB50DFF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2819400"/>
            <a:ext cx="15811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검색 · RAG · 평가</a:t>
            </a:r>
          </a:p>
          <a:p xmlns:a="http://schemas.openxmlformats.org/drawingml/2006/main">
            <a: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비용 계산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29DE1D-94E0-4D7A-91DE-3FD610299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495550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C7652CF-B641-4C60-B06D-12ED29163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1809750"/>
            <a:ext cx="1924050" cy="16573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E6F4F2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68926F4-4843-4C26-9546-509FBE5CF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1981200"/>
            <a:ext cx="3429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9B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0295A1E-CD62-41FE-BAE3-51E1E738B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02882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35FAABC-C99F-4DC9-85F3-D2D33B0B2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438400"/>
            <a:ext cx="1581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결과 검토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A62CEE5-7F0E-4CCA-B39B-83523B425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819400"/>
            <a:ext cx="15811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근거·위험 표시</a:t>
            </a:r>
          </a:p>
          <a:p xmlns:a="http://schemas.openxmlformats.org/drawingml/2006/main">
            <a: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HOST가 편집·저장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AB40F44-32F7-46AD-AF04-427F1C320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5219700" cy="1581150"/>
          </a:xfrm>
          <a:prstGeom xmlns:a="http://schemas.openxmlformats.org/drawingml/2006/main" prst="roundRect">
            <a:avLst>
              <a:gd name="adj" fmla="val 96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B6408A1-ADC9-4B24-A8AB-2544C407F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66675" cy="15811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E78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F9F96C7-456E-40FC-BD81-1B2A87B11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81450"/>
            <a:ext cx="480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구현된 도구 4개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8F1965A-C980-47F5-8D07-2374A0147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10075"/>
            <a:ext cx="48006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공개 체험 검색 · 지역 자료 검색(RAG)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5개 가치 기준 평가 · 운영비 산식 계산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출처 ID와 결과 형식을 Edge에서 검증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1E7CE30-0634-44D6-8F48-C00FBAB7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810000"/>
            <a:ext cx="5524500" cy="1581150"/>
          </a:xfrm>
          <a:prstGeom xmlns:a="http://schemas.openxmlformats.org/drawingml/2006/main" prst="roundRect">
            <a:avLst>
              <a:gd name="adj" fmla="val 9639"/>
            </a:avLst>
          </a:prstGeom>
          <a:solidFill xmlns:a="http://schemas.openxmlformats.org/drawingml/2006/main">
            <a:srgbClr val="FFF0ED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500DF10-7AA2-451E-B728-6DF261796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810000"/>
            <a:ext cx="66675" cy="15811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06D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942BB64-3A2E-4BAA-8E5B-D9F0F2A0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981450"/>
            <a:ext cx="510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중요한 기술 경계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9962E6C-BB36-455E-A511-F7110F335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410075"/>
            <a:ext cx="51054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COPA 네이티브 Tool Calling 사용 아님.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일반 채팅으로 JSON 인자를 받아 허용 목록으로 실행.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테스트 16개는 모의 모델 검증이며 비용·품질 보증은 아님.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466E321-C045-45A2-B1DC-E65C3EE8C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자동 저장·확정 금지  →  HOST가 결과를 검토하고 편집란으로 복사한 뒤 별도 저장</a:t>
            </a:r>
          </a:p>
        </p:txBody>
      </p:sp>
    </p:spTree>
    <p:extLst>
      <p:ext uri="{BB962C8B-B14F-4D97-AF65-F5344CB8AC3E}">
        <p14:creationId xmlns:p14="http://schemas.microsoft.com/office/powerpoint/2010/main" val="130019219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B6A808-CF12-4BF2-A101-7341206DD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LANGUAGE &amp; PLACE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932B36-8F08-4DA9-B858-D6B8A38E2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화면 언어, 번역 검수, 실제 진행 언어는 서로 다릅니다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EB74A2-86DB-4BB7-8C23-CF08AD503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5334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9B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C3E7E2-FF82-48CD-8089-66A153D5F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LOCAL EUM  ·  멘토링 브리프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5120CE-10F2-49D3-BB59-294F25A3D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08 / 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83BB53-93E1-4551-B0EA-4111AAC18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6191250" cy="647700"/>
          </a:xfrm>
          <a:prstGeom xmlns:a="http://schemas.openxmlformats.org/drawingml/2006/main" prst="roundRect">
            <a:avLst>
              <a:gd name="adj" fmla="val 191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41EEC5-6BF6-4099-B5D9-4D2F456A0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0500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화면 전환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29EFEA-3BBD-473F-ABCE-1B778BCDA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90500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rPr>
              <a:t>ko / en / ja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6F47F9-DB8E-4AC6-82BF-95515A9C9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0500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인터페이스 언어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AE5648-3B4A-4F88-B218-DB870BEA4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33650"/>
            <a:ext cx="6191250" cy="647700"/>
          </a:xfrm>
          <a:prstGeom xmlns:a="http://schemas.openxmlformats.org/drawingml/2006/main" prst="roundRect">
            <a:avLst>
              <a:gd name="adj" fmla="val 191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95CC39-FAE6-4CC9-9249-B9B9F88EF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241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콘텐츠 번역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35DA3C-B402-4C83-B3F3-1004415E8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72415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rPr>
              <a:t>영·일 초안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E26D93-9049-4805-ABD6-AA70C73A2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7241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검수 상태 DRAFT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F88819-26BA-41CF-B5B8-B7DA92C96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6191250" cy="647700"/>
          </a:xfrm>
          <a:prstGeom xmlns:a="http://schemas.openxmlformats.org/drawingml/2006/main" prst="roundRect">
            <a:avLst>
              <a:gd name="adj" fmla="val 19118"/>
            </a:avLst>
          </a:prstGeom>
          <a:solidFill xmlns:a="http://schemas.openxmlformats.org/drawingml/2006/main">
            <a:srgbClr val="E6F4F2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A671B9-9D54-4725-93A9-63D08EBF9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4330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진행 가능 언어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3DA090-BE4A-431B-814C-8EC394FDB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54330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rPr>
              <a:t>HOST 확인값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433ABF-1F47-4AEC-8AEE-BAB349E2D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4330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실제 안내 가능 여부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5BD262-DE91-4601-9830-E7239EEF8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714500"/>
            <a:ext cx="4343400" cy="1466850"/>
          </a:xfrm>
          <a:prstGeom xmlns:a="http://schemas.openxmlformats.org/drawingml/2006/main" prst="roundRect">
            <a:avLst>
              <a:gd name="adj" fmla="val 103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9D473F-2AC3-4266-897E-9043ED60C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714500"/>
            <a:ext cx="66675" cy="14668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29B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6BA852-5B0B-49BE-B6C1-C2C3D2F6D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885950"/>
            <a:ext cx="3924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주소 기반 지도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538E0C-8114-4F71-84EF-6E880BB8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05050"/>
            <a:ext cx="3924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확인된 주소를 보여주고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Kakao Maps에서 주소를 검색합니다.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좌표는 임의 생성·DB 저장하지 않음.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242CFB-94D8-4921-BD66-CEADC0785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90900"/>
            <a:ext cx="4343400" cy="1466850"/>
          </a:xfrm>
          <a:prstGeom xmlns:a="http://schemas.openxmlformats.org/drawingml/2006/main" prst="roundRect">
            <a:avLst>
              <a:gd name="adj" fmla="val 10390"/>
            </a:avLst>
          </a:prstGeom>
          <a:solidFill xmlns:a="http://schemas.openxmlformats.org/drawingml/2006/main">
            <a:srgbClr val="FFF7E7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38F5EB-C40A-44D2-A9F1-F4C9D0E77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90900"/>
            <a:ext cx="66675" cy="14668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99C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ADE256-9EDE-4E67-93B0-AFB6FD5C8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62350"/>
            <a:ext cx="3924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운영 전 과제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75BDFE-755D-4BEC-9A9D-E9AC814F4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981450"/>
            <a:ext cx="3924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번역 초안의 원어민 검수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호스트별 실제 진행 언어 확인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주소·집결 장소와 상업 이용 승인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B834C4-8CB0-4724-B014-A0811690B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6191250" cy="895350"/>
          </a:xfrm>
          <a:prstGeom xmlns:a="http://schemas.openxmlformats.org/drawingml/2006/main" prst="roundRect">
            <a:avLst>
              <a:gd name="adj" fmla="val 15957"/>
            </a:avLst>
          </a:prstGeom>
          <a:solidFill xmlns:a="http://schemas.openxmlformats.org/drawingml/2006/main">
            <a:srgbClr val="EAF3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B900257-AC30-4F7D-86FB-E791E4B40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72025"/>
            <a:ext cx="5753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3개 언어·친구 체험의 `available_languages`는</a:t>
            </a:r>
          </a:p>
          <a:p xmlns:a="http://schemas.openxmlformats.org/drawingml/2006/main">
            <a:pPr algn="l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원격 조회 시 모두 빈 배열로 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0C9F1E7-4F3A-44E6-95AC-4F97F8D2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다국어 표시가 가능하다는 것과 외국어로 안전하게 운영할 수 있다는 것은 다른 검증입니다.</a:t>
            </a:r>
          </a:p>
        </p:txBody>
      </p:sp>
    </p:spTree>
    <p:extLst>
      <p:ext uri="{BB962C8B-B14F-4D97-AF65-F5344CB8AC3E}">
        <p14:creationId xmlns:p14="http://schemas.microsoft.com/office/powerpoint/2010/main" val="210777841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169D15D-DE7A-465E-9C28-BED6F8F91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PROGRESS &amp;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A7FCC2-472A-4483-8D93-C8D3AB9E7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기능은 연결되고 있지만, 테스트 범위와 운영 증거를 나눠 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16E1A1-431E-4E4A-8025-1C6595589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5334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9B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0E9C24-4EF7-4829-BA70-CF70C241E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LOCAL EUM  ·  멘토링 브리프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32025B-261F-4053-8975-76C713F5E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09 / 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28A671-779B-4739-8500-5C9FF1E06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647700"/>
          </a:xfrm>
          <a:prstGeom xmlns:a="http://schemas.openxmlformats.org/drawingml/2006/main" prst="roundRect">
            <a:avLst>
              <a:gd name="adj" fmla="val 191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CB8A2E-FE23-4636-966A-D137E9F43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771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화면·데이터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2324E9-82CB-41A0-8E77-25304C3E6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828800"/>
            <a:ext cx="499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공개 목록·상세·신청·호스트 공간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14BAA2-1FB6-4986-BEE6-53330C648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819275"/>
            <a:ext cx="31051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5097B4-B592-43CD-BF23-F488B8FCA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66900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코드 + 실제 로컬 화면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B3E90A-DEAC-45DB-B585-A10C73FAE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10972800" cy="647700"/>
          </a:xfrm>
          <a:prstGeom xmlns:a="http://schemas.openxmlformats.org/drawingml/2006/main" prst="roundRect">
            <a:avLst>
              <a:gd name="adj" fmla="val 191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C21E7A-712D-408C-8755-61E1DC10B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47950"/>
            <a:ext cx="1771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DB 운영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A15764-4477-4817-AB59-CBA72387E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647950"/>
            <a:ext cx="499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2 HOST · 15 체험 · 19 회차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1C5591-76A8-46FF-BCED-556FC19CD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638425"/>
            <a:ext cx="31051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6F4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0954BB-1448-4B89-9E68-EC17F191D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86050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rPr>
              <a:t>2026-10-20 read-only 조회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C71710-6F56-4859-91B1-E35FFCD8F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647700"/>
          </a:xfrm>
          <a:prstGeom xmlns:a="http://schemas.openxmlformats.org/drawingml/2006/main" prst="roundRect">
            <a:avLst>
              <a:gd name="adj" fmla="val 191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C37EF1-942C-418D-9267-104F16748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67100"/>
            <a:ext cx="1771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AI Agent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AF3D81-6EDB-47E2-89CD-F0A579BEA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467100"/>
            <a:ext cx="499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4 도구 · JSON adapter · HOST 검토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3FC050-BCC8-4075-9463-E0198A441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57575"/>
            <a:ext cx="31051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2DC2FC-D2B5-4188-9D66-589B2DAF0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505200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코드 + 모의 테스트 16개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B7CCC0-93F1-4EE8-B526-3EF932D3B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10972800" cy="647700"/>
          </a:xfrm>
          <a:prstGeom xmlns:a="http://schemas.openxmlformats.org/drawingml/2006/main" prst="roundRect">
            <a:avLst>
              <a:gd name="adj" fmla="val 191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CC95EA-AE9D-4A38-ADBF-296CBF696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86250"/>
            <a:ext cx="1771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협업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F5B274-F3C6-4DE3-B777-BDDD0C3D0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286250"/>
            <a:ext cx="499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PR #13 병합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6C037B-9021-438F-9B68-B93404AB3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276725"/>
            <a:ext cx="31051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D76B2E-68A8-489A-B172-900A31FF3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324350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main 커밋에서 확인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62B79F-AA82-4127-9717-883658249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FFF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961E95-E372-4570-B1C7-04C171170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91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9A3C3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500" b="1">
                <a:solidFill>
                  <a:srgbClr val="9A3C3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500" b="1">
                <a:solidFill>
                  <a:srgbClr val="9A3C3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500" b="1">
                <a:solidFill>
                  <a:srgbClr val="9A3C3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500" b="1">
                <a:solidFill>
                  <a:srgbClr val="9A3C3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500" b="1">
                <a:solidFill>
                  <a:srgbClr val="9A3C3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500" b="1">
                <a:solidFill>
                  <a:srgbClr val="9A3C3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500" b="1">
                <a:solidFill>
                  <a:srgbClr val="9A3C3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500" b="1">
                <a:solidFill>
                  <a:srgbClr val="9A3C3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500" b="1">
                <a:solidFill>
                  <a:srgbClr val="9A3C3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9A3C32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9A3C32"/>
                </a:solidFill>
                <a:latin typeface="Malgun Gothic"/>
                <a:ea typeface="Malgun Gothic"/>
                <a:cs typeface="Malgun Gothic"/>
              </a:rPr>
              <a:t>테스트 통과 ≠ 실서비스 보증  ·  실 사용자 5명 평가와 피드백 반영은 아직 완료 증거가 없습니다.</a:t>
            </a:r>
          </a:p>
        </p:txBody>
      </p:sp>
    </p:spTree>
    <p:extLst>
      <p:ext uri="{BB962C8B-B14F-4D97-AF65-F5344CB8AC3E}">
        <p14:creationId xmlns:p14="http://schemas.microsoft.com/office/powerpoint/2010/main" val="5315773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7C9E7E8-AC91-421B-9DF8-623AB5564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OPEN RISKS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3AF893-91AF-484F-857D-757E9AF89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운영으로 넘어가기 전에 해결할 6가지 리스크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501636-0F23-4414-8B7D-FDBAE49B7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5334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9B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7465BB-BA38-4F89-8325-691ED62AC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LOCAL EUM  ·  멘토링 브리프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A2B245-77D0-47AE-8589-75297752D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10 / 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7C4251-85FA-4BB7-A1AA-23914E4F6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5219700" cy="104775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FF0ED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693BFD-D92D-43EF-8A0B-EF7DDF9A4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66675" cy="10477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06D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23AD81-9D14-4FC9-9553-C7E6052D1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480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가격·가치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27F561-8892-41F7-8EFC-2C82A1A17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62175"/>
            <a:ext cx="48006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Busan 표기 0원. 무료/실비/가격가설 의도를 결정하고 호스트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A5DF73-46B8-4E8A-974B-640023E70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57350"/>
            <a:ext cx="5219700" cy="104775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BF4A8C-63AE-461A-B475-E7D752231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57350"/>
            <a:ext cx="66675" cy="10477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E78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6F54FF-F43E-4360-AB1D-6E74C2D1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828800"/>
            <a:ext cx="480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진행 언어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50DD42-BF33-4B18-A27E-B1588CB50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162175"/>
            <a:ext cx="48006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3개 체험 모두 HOST 언어 확인 필요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BBB9F8-8F6E-4E58-91EE-BDE6B32AA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5219700" cy="104775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FF0ED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0B222A-6783-4520-B1BD-FCB38A28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66675" cy="10477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06D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CC15EE-130F-499C-B7C2-95535A392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86100"/>
            <a:ext cx="480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호스트 권한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CE3C79-5D69-421C-ADF8-565471063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19475"/>
            <a:ext cx="48006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453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회차 생성·취소 일부 검증 기록; 교차 HOST·ADMIN 전체 검증은 제한적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EB72DE-84A3-4FA4-B89C-8265BC6BB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14650"/>
            <a:ext cx="5219700" cy="104775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E24B93-CF41-463B-AE9E-D417A3CAF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14650"/>
            <a:ext cx="66675" cy="10477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E78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E018C6-AB1D-470F-8FE1-6A3B8ECEC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086100"/>
            <a:ext cx="480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결제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C6804E-CFA6-4E4D-83FE-99E71B5B7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19475"/>
            <a:ext cx="48006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시연 안내만. 실제 결제·환불·정산 없음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D14750-5248-4FF0-A6E5-A87B2E7E5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5219700" cy="104775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BB1A41-503E-48F5-A1D5-3BE836FEC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66675" cy="10477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E78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8E6F94-A219-47AD-ADB8-C5E3A17B0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43400"/>
            <a:ext cx="480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AI 신뢰성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42CA74-7073-4A9E-8CEB-FFE0E8108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76775"/>
            <a:ext cx="48006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지역 corpus 규모·근거 최신성·가격 근거를 사람 검토 필요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D12B35-1D8F-476D-A2F7-E8443B3EB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71950"/>
            <a:ext cx="5219700" cy="104775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D9B1F6-8754-430C-9774-61675091E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71950"/>
            <a:ext cx="66675" cy="10477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E78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8E5ECE-2E6B-4F30-AD6E-BE7DB027B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43400"/>
            <a:ext cx="480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출시 증거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76AD692-C550-41E1-9124-0225F91E0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676775"/>
            <a:ext cx="48006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외부 사용자 5명 이상 테스트와 사용 피드백 미완료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D6E5D3D-B776-43F9-8F0A-26C9961A0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우선순위 제안  ·  체험 가치·가격·호스트 운영 조건을 작은 사용자 테스트로 먼저 확인</a:t>
            </a:r>
          </a:p>
        </p:txBody>
      </p:sp>
    </p:spTree>
    <p:extLst>
      <p:ext uri="{BB962C8B-B14F-4D97-AF65-F5344CB8AC3E}">
        <p14:creationId xmlns:p14="http://schemas.microsoft.com/office/powerpoint/2010/main" val="117109157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92C4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251A3B-F094-4DED-9023-9C96AC80B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rPr>
              <a:t>MENTOR QUESTIONS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B40268-4A7A-4210-8370-16E70C7CD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멘토에게 받고 싶은 판단: 지금 무엇부터 증명할까?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39A11C-D10B-4BC0-A27C-CC57E0727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5334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3D1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7C443D-AADA-4497-A225-5E3683721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rPr>
              <a:t>LOCAL EUM  ·  멘토링 브리프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BEC537-82CB-4022-880A-3F48348FA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rPr>
              <a:t>11 / 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8EC6AD-C726-47B9-BA71-8BA486DD9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47825"/>
            <a:ext cx="495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6D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E7D511-4F20-47E7-9CB6-A2097C22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94AD93-BD84-422E-9AB1-011118D18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6192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rPr>
              <a:t>고객 가치·가격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030F73-0299-4C1C-94C8-EA11B6FB2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61925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장소 방문을 넘어 돈을 지불할 이유를 어떤 테스트로 검증할까요?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4A260A-E2DC-4496-9FD2-B2FA78157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86025"/>
            <a:ext cx="495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942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1432C3-36E2-4334-B377-C1AFDDE8B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33650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511F6E-878F-4973-A4D4-DA68EA3A0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574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rPr>
              <a:t>운영의 최소 조건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6CE5BA-E242-48AA-BB66-E93FD40DA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45745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HOST 2명·시범 3개 중 어떤 운영조건을 먼저 실제로 확인할까요?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94833B-F940-4F69-9E51-52EA9EB6D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24225"/>
            <a:ext cx="495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942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6BD75E-2E06-49D4-888E-F0A7FE140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1850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DA206F-60FD-40B5-8006-C3C8B2392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2956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rPr>
              <a:t>Agent 구조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5A9064-1C1F-4FFF-B83F-1193C3FE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29565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현재 JSON 도구 어댑터를 유지할까요, 실험 기준을 정해 다른 구조와 비교할까요?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BD734F-4B86-48E4-A159-C18B93DE7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495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942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476E61-D860-41F5-8892-DFCEEC5A7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3A06C7-DCBD-4F3C-B167-70DEA7DB6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338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rPr>
              <a:t>RAG 범위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CE5D39-0502-41BF-9A41-0BF473F24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13385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출처·확인일·지역 커버리지를 어떤 기준으로 늘리고 품질을 평가할까요?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30E02A-5056-4019-AFAA-F38B2AEA5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495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942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4B07BC-DB1A-4AC0-B94F-F56C4E78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0DA23D-CF45-477D-9D54-3CBE8D587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720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rPr>
              <a:t>팀 통합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1A2717-DB3F-4194-8B69-D6AB999B1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97205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HOST 로그인·라우팅·공통 배포에서 팀 인증과 Supabase 역할을 어떻게 연결할까요?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DDAE13-FCBF-4F27-B712-5881DBEEC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오늘 결정할 것  ·  다음 2주 MVP의 검증 대상 하나와 측정 기준 하나</a:t>
            </a:r>
          </a:p>
        </p:txBody>
      </p:sp>
    </p:spTree>
    <p:extLst>
      <p:ext uri="{BB962C8B-B14F-4D97-AF65-F5344CB8AC3E}">
        <p14:creationId xmlns:p14="http://schemas.microsoft.com/office/powerpoint/2010/main" val="162340513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E2106CA-8DB5-4933-AD41-C87741C38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NEXT 2–4 WEEKS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76AC7B-35E4-4CE4-AA85-9FE31CEA4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다음 단계는 기능 추가보다 작게 검증하고 정리하기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CA739C-C128-48E7-8A9D-706D3AF2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5334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9B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33BD2D-B791-491C-A946-FBE1644B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LOCAL EUM  ·  멘토링 브리프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C9E426-C9D1-471B-A6E7-99DCF1D91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12 / 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81C59A-81EF-4965-A59E-EBF85EDF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2419350" cy="2152650"/>
          </a:xfrm>
          <a:prstGeom xmlns:a="http://schemas.openxmlformats.org/drawingml/2006/main" prst="roundRect">
            <a:avLst>
              <a:gd name="adj" fmla="val 7522"/>
            </a:avLst>
          </a:prstGeom>
          <a:solidFill xmlns:a="http://schemas.openxmlformats.org/drawingml/2006/main">
            <a:srgbClr val="FFF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5D640A-11D6-4CAA-9BEC-249498FDB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81200"/>
            <a:ext cx="3619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2C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86C65F-9E61-4FF2-B69E-5A9A4A4F5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28825"/>
            <a:ext cx="209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63E1A8-4617-4D6F-B40D-8A37751A4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43175"/>
            <a:ext cx="2038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운영 사실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F5327B-988A-4DC9-BA7B-135081C2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48000"/>
            <a:ext cx="2038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호스트 진행 언어·회비·장소</a:t>
            </a:r>
          </a:p>
          <a:p xmlns:a="http://schemas.openxmlformats.org/drawingml/2006/main">
            <a: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회차 취소·신청 흐름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430AC7-CE9A-4429-A2DE-3AF4B8BF9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809750"/>
            <a:ext cx="2419350" cy="2152650"/>
          </a:xfrm>
          <a:prstGeom xmlns:a="http://schemas.openxmlformats.org/drawingml/2006/main" prst="roundRect">
            <a:avLst>
              <a:gd name="adj" fmla="val 7522"/>
            </a:avLst>
          </a:prstGeom>
          <a:solidFill xmlns:a="http://schemas.openxmlformats.org/drawingml/2006/main">
            <a:srgbClr val="EAF3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94E960-6183-499A-9933-EC7823A71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981200"/>
            <a:ext cx="3619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2C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276CB4-866C-4B6A-A6A3-21E2D57BA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028825"/>
            <a:ext cx="209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8AAC36-03F9-4010-BB06-6BEB5368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543175"/>
            <a:ext cx="2038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5명 사용자 테스트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7A279E-9F58-4464-8EE1-982C664C5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048000"/>
            <a:ext cx="2038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여행자 과제·소요 시간·혼동</a:t>
            </a:r>
          </a:p>
          <a:p xmlns:a="http://schemas.openxmlformats.org/drawingml/2006/main">
            <a: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피드백 1건 이상 반영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FE70FC-8F23-4DAA-85F7-C79AFEDD6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09750"/>
            <a:ext cx="2419350" cy="2152650"/>
          </a:xfrm>
          <a:prstGeom xmlns:a="http://schemas.openxmlformats.org/drawingml/2006/main" prst="roundRect">
            <a:avLst>
              <a:gd name="adj" fmla="val 7522"/>
            </a:avLst>
          </a:prstGeom>
          <a:solidFill xmlns:a="http://schemas.openxmlformats.org/drawingml/2006/main">
            <a:srgbClr val="E6F4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AB23B5-F1FF-45F0-A34E-041C4FDF7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81200"/>
            <a:ext cx="3619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2C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2692CB-E456-4F8A-AB3B-7CCD1C1FC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028825"/>
            <a:ext cx="209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254EA8-EDCD-44A9-ACC2-1C6084543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543175"/>
            <a:ext cx="2038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Agent 평가 기준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82592D-F222-490B-8D9F-3F0BBB282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48000"/>
            <a:ext cx="2038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4 도구의 근거·오답·비용</a:t>
            </a:r>
          </a:p>
          <a:p xmlns:a="http://schemas.openxmlformats.org/drawingml/2006/main">
            <a: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실행 여부와 품질 분리 측정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0AE0B3-C1DA-44CA-A45E-F4B15EAA9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809750"/>
            <a:ext cx="2419350" cy="2152650"/>
          </a:xfrm>
          <a:prstGeom xmlns:a="http://schemas.openxmlformats.org/drawingml/2006/main" prst="roundRect">
            <a:avLst>
              <a:gd name="adj" fmla="val 7522"/>
            </a:avLst>
          </a:prstGeom>
          <a:solidFill xmlns:a="http://schemas.openxmlformats.org/drawingml/2006/main">
            <a:srgbClr val="FFF7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BF1FCF-A657-4B2D-AD20-EE6AAE1E2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981200"/>
            <a:ext cx="3619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2C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55A397-972E-46F7-A211-28743965A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028825"/>
            <a:ext cx="209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E682D2-72ED-4EA8-B540-9917B8ED9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43175"/>
            <a:ext cx="2038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출시·팀 연동 결정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FBEBAD-0498-4E1B-8C71-C2B87C81A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48000"/>
            <a:ext cx="2038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공통 배포·인증 접점 확정</a:t>
            </a:r>
          </a:p>
          <a:p xmlns:a="http://schemas.openxmlformats.org/drawingml/2006/main">
            <a: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재검증 후 데모 공유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82E336-BB69-4C6B-95B4-DDAA1239B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10972800" cy="1143000"/>
          </a:xfrm>
          <a:prstGeom xmlns:a="http://schemas.openxmlformats.org/drawingml/2006/main" prst="roundRect">
            <a:avLst>
              <a:gd name="adj" fmla="val 14167"/>
            </a:avLst>
          </a:prstGeom>
          <a:solidFill xmlns:a="http://schemas.openxmlformats.org/drawingml/2006/main">
            <a:srgbClr val="192C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E37FA3-D0D7-4D47-AD9A-3FD5BDDDC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48200"/>
            <a:ext cx="1038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rPr>
              <a:t>멘토링에서 합의할 산출물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1DAD393-840C-435E-8DA9-65329B4B0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57775"/>
            <a:ext cx="1038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검증할 가설 1개  ·  성공 기준 1개  ·  다음 단계와 제외할 범위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D896907-06ED-4477-AB8F-10D67086C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LOCAL EUM  ·  지역의 경험이 여행자의 기억과 호스트의 지속 가능한 운영으로 이어지는지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179296374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2026-10-20T13:34:03.5270000Z</dcterms:created>
  <dcterms:modified xsi:type="dcterms:W3CDTF">2026-10-20T13:34:03.5280000Z</dcterms:modified>
</coreProperties>
</file>