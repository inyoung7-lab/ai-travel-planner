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69b1547f2564aa2" /><Relationship Type="http://schemas.openxmlformats.org/officeDocument/2006/relationships/extended-properties" Target="/docProps/app.xml" Id="Rf36ae4b692e04558" /><Relationship Type="http://schemas.openxmlformats.org/officeDocument/2006/relationships/officeDocument" Target="/ppt/presentation.xml" Id="Re22c7df3fcb9400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d41d27402bc4d15"/>
  </p:sldMasterIdLst>
  <p:notesMasterIdLst>
    <p:notesMasterId xmlns:r="http://schemas.openxmlformats.org/officeDocument/2006/relationships" r:id="R7d30581f7ef543a6"/>
  </p:notesMasterIdLst>
  <p:sldIdLst>
    <p:sldId xmlns:r="http://schemas.openxmlformats.org/officeDocument/2006/relationships" id="256" r:id="R63b0b455b3394cfc"/>
    <p:sldId xmlns:r="http://schemas.openxmlformats.org/officeDocument/2006/relationships" id="257" r:id="Rd2171aa5a21e48b2"/>
    <p:sldId xmlns:r="http://schemas.openxmlformats.org/officeDocument/2006/relationships" id="258" r:id="R79e6aa4f16434761"/>
    <p:sldId xmlns:r="http://schemas.openxmlformats.org/officeDocument/2006/relationships" id="259" r:id="R305df44012924383"/>
    <p:sldId xmlns:r="http://schemas.openxmlformats.org/officeDocument/2006/relationships" id="260" r:id="R5062ae71af7b4f58"/>
    <p:sldId xmlns:r="http://schemas.openxmlformats.org/officeDocument/2006/relationships" id="261" r:id="R17c5eb4e76c54fd4"/>
    <p:sldId xmlns:r="http://schemas.openxmlformats.org/officeDocument/2006/relationships" id="262" r:id="Rc3f703a8d3ff47a8"/>
    <p:sldId xmlns:r="http://schemas.openxmlformats.org/officeDocument/2006/relationships" id="263" r:id="Rd705ee75130f48c9"/>
    <p:sldId xmlns:r="http://schemas.openxmlformats.org/officeDocument/2006/relationships" id="264" r:id="R334d122b481a402e"/>
    <p:sldId xmlns:r="http://schemas.openxmlformats.org/officeDocument/2006/relationships" id="265" r:id="R80264429490048fe"/>
    <p:sldId xmlns:r="http://schemas.openxmlformats.org/officeDocument/2006/relationships" id="266" r:id="R1f4041ae3be545d6"/>
    <p:sldId xmlns:r="http://schemas.openxmlformats.org/officeDocument/2006/relationships" id="267" r:id="Rf28ab61c56404cf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e6d01c3cd7544bb" /><Relationship Type="http://schemas.openxmlformats.org/officeDocument/2006/relationships/slideMaster" Target="/ppt/slideMasters/slideMaster1.xml" Id="Rfd41d27402bc4d15" /><Relationship Type="http://schemas.openxmlformats.org/officeDocument/2006/relationships/notesMaster" Target="/ppt/notesMasters/notesMaster1.xml" Id="R7d30581f7ef543a6" /><Relationship Type="http://schemas.openxmlformats.org/officeDocument/2006/relationships/presProps" Target="/ppt/presProps.xml" Id="R4370dcf9d46c4efc" /><Relationship Type="http://schemas.openxmlformats.org/officeDocument/2006/relationships/tableStyles" Target="/ppt/tableStyles.xml" Id="R3941528e1ca54221" /><Relationship Type="http://schemas.openxmlformats.org/officeDocument/2006/relationships/slide" Target="/ppt/slides/slide1.xml" Id="R63b0b455b3394cfc" /><Relationship Type="http://schemas.openxmlformats.org/officeDocument/2006/relationships/slide" Target="/ppt/slides/slide2.xml" Id="Rd2171aa5a21e48b2" /><Relationship Type="http://schemas.openxmlformats.org/officeDocument/2006/relationships/slide" Target="/ppt/slides/slide3.xml" Id="R79e6aa4f16434761" /><Relationship Type="http://schemas.openxmlformats.org/officeDocument/2006/relationships/slide" Target="/ppt/slides/slide4.xml" Id="R305df44012924383" /><Relationship Type="http://schemas.openxmlformats.org/officeDocument/2006/relationships/slide" Target="/ppt/slides/slide5.xml" Id="R5062ae71af7b4f58" /><Relationship Type="http://schemas.openxmlformats.org/officeDocument/2006/relationships/slide" Target="/ppt/slides/slide6.xml" Id="R17c5eb4e76c54fd4" /><Relationship Type="http://schemas.openxmlformats.org/officeDocument/2006/relationships/slide" Target="/ppt/slides/slide7.xml" Id="Rc3f703a8d3ff47a8" /><Relationship Type="http://schemas.openxmlformats.org/officeDocument/2006/relationships/slide" Target="/ppt/slides/slide8.xml" Id="Rd705ee75130f48c9" /><Relationship Type="http://schemas.openxmlformats.org/officeDocument/2006/relationships/slide" Target="/ppt/slides/slide9.xml" Id="R334d122b481a402e" /><Relationship Type="http://schemas.openxmlformats.org/officeDocument/2006/relationships/slide" Target="/ppt/slides/slide10.xml" Id="R80264429490048fe" /><Relationship Type="http://schemas.openxmlformats.org/officeDocument/2006/relationships/slide" Target="/ppt/slides/slide11.xml" Id="R1f4041ae3be545d6" /><Relationship Type="http://schemas.openxmlformats.org/officeDocument/2006/relationships/slide" Target="/ppt/slides/slide12.xml" Id="Rf28ab61c56404cf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eecfe02401a441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60889845a7149b3" /><Relationship Type="http://schemas.openxmlformats.org/officeDocument/2006/relationships/notesMaster" Target="/ppt/notesMasters/notesMaster1.xml" Id="R14655bbf0d764c2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de1ea048b0448c3" /><Relationship Type="http://schemas.openxmlformats.org/officeDocument/2006/relationships/notesMaster" Target="/ppt/notesMasters/notesMaster1.xml" Id="R081bf114e69e4f0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87af714a1c747e8" /><Relationship Type="http://schemas.openxmlformats.org/officeDocument/2006/relationships/notesMaster" Target="/ppt/notesMasters/notesMaster1.xml" Id="R7dc8366b76654be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404ed5765f24e5f" /><Relationship Type="http://schemas.openxmlformats.org/officeDocument/2006/relationships/notesMaster" Target="/ppt/notesMasters/notesMaster1.xml" Id="R68a5950343fa43e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5063d5ae14542b7" /><Relationship Type="http://schemas.openxmlformats.org/officeDocument/2006/relationships/notesMaster" Target="/ppt/notesMasters/notesMaster1.xml" Id="Rb99b1156d8c6403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1a72291bcdc477e" /><Relationship Type="http://schemas.openxmlformats.org/officeDocument/2006/relationships/notesMaster" Target="/ppt/notesMasters/notesMaster1.xml" Id="Rddacbe3a90b6460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8098b8490794411" /><Relationship Type="http://schemas.openxmlformats.org/officeDocument/2006/relationships/notesMaster" Target="/ppt/notesMasters/notesMaster1.xml" Id="R079c93ffd83149a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ac119cf54bb44f6" /><Relationship Type="http://schemas.openxmlformats.org/officeDocument/2006/relationships/notesMaster" Target="/ppt/notesMasters/notesMaster1.xml" Id="R0eed693dfed2454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60032beb8e0400c" /><Relationship Type="http://schemas.openxmlformats.org/officeDocument/2006/relationships/notesMaster" Target="/ppt/notesMasters/notesMaster1.xml" Id="R80cf1593c23f48d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f7241f4a65f4e16" /><Relationship Type="http://schemas.openxmlformats.org/officeDocument/2006/relationships/notesMaster" Target="/ppt/notesMasters/notesMaster1.xml" Id="R25021fdfd85e452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92a71fe38a24f1a" /><Relationship Type="http://schemas.openxmlformats.org/officeDocument/2006/relationships/notesMaster" Target="/ppt/notesMasters/notesMaster1.xml" Id="R27a181007f1f4b8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317c2a352544158" /><Relationship Type="http://schemas.openxmlformats.org/officeDocument/2006/relationships/notesMaster" Target="/ppt/notesMasters/notesMaster1.xml" Id="Re2a27eca081848e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로컬이음은 지역 주민과 여행자가 함께하는 경험을 연결하기 위해 기획했습니다. 화면 캡처는 2026-10-20 로컬 개발 앱에서 직접 취득했습니다. 주요 근거: docs/local-eum/README.md, src/App.jsx.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서비스 기획은 관광 정보 탐색에서 지역 주민과 함께하는 경험으로 초점을 넓히는 데서 출발했습니다. 시장 규모와 지불 의사는 향후 사용자 조사로 확인할 영역입니다.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화면 경로는 src/App.jsx와 src/pages/local-eum의 라우트 구성에서 확인했습니다. 공개 체험은 Supabase PUBLISHED 조회, 신청은 lc_submit_experience_application RPC 경로를 사용합니다. 회차 선택·신청의 노출은 실제 공개 화면 캡처로 확인했습니다.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세 장의 화면은 2026-10-20 로컬 개발 앱을 Edge headless 브라우저로 실제 렌더링해 캡처했습니다. URL은 /local-eum, /local-eum/experiences/113, /local-eum/host/profile?demo=1 입니다. 공개 운영 서버의 캡처가 아니며, 공개 호스트 데모 화면은 가상 데이터를 표시합니다.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2026-10-20 Supabase local-eum-dev 프로젝트에 read-only SQL 조회를 수행했습니다. 집계: hosts 2, experiences 15, experience_steps 68, sessions 19, applications 1, lc_application_payments 1. 113/114/115는 각각 17/18/19 회차, PUBLISHED/RECRUITING, 표시 참가비 10,000/0/10,000원이며 available_languages 길이는 0. 사용자 개인정보는 읽거나 슬라이드에 포함하지 않았습니다. 적용 기록: docs/local-eum/migrations/20261020_language_friends_publish.applied.md.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로컬이음의 프런트엔드와 데이터 계층은 React/Vite와 Supabase로 구성했습니다. DB는 Supabase PostgreSQL이며 Auth, RLS, Storage, Edge Function을 사용합니다. Codyssey API 비밀키는 Edge Function secret로만 관리됩니다.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코드 근거: supabase/functions/local-eum-agent/agent-core.mjs와 codyssey-client.mjs. Adapter는 COPA Chat Completions의 JSON 응답을 정해진 함수 인자로 변환하고, Edge가 서버 도구를 실행합니다. 모델이 SQL/도구를 직접 실행하지 않습니다. 화면 AiExperienceAgent.jsx에서는 검토 체크 후 소개란에 복사, 저장은 일반 HOST 폼에서 별도로 합니다. Deno tests는 16개 통과했던 PR #13 검증 기록이며, 현재 이 문서 작업 중 유료 AI 호출을 수행하지 않았습니다.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원격 read-only 조회에서 #113–#115의 available_languages cardinality 0. 코드 근거: localEumI18n.js, experiencePresentation.js, maps/PlaceMap.jsx. DB 번역 적용 기록은 README와 migrations에 있으며, 이번 작업의 수치는 2026-10-20 DB 조회로 확인했습니다.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main HEAD는 79374c262707e71440767f483d928e248e7a0d19이며 커밋 제목에 PR #13이 표시됩니다. PR13 검증 기록은 Local Eum node tests 56개, AI Edge Deno tests 16개, build/lint pass with existing warnings. Team regression 48/49 pass; existing failure `trendingPlaceDetails.test.js`는 로컬이음 변경이 없는 팀 파일로 기록됨. 이 검증은 현 브랜치에서 재실행 예정입니다. 실사용자 5명 테스트/피드백 반영은 미완료.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호스트 실 조작의 경계는 docs/local-eum/migrations/20261020_language_friends_and_host_lifecycle.applied.md 및 docs/local-eum/host-operations-guide.md를 참조하십시오. 기존 기록은 HOST #500 테스트 전용 회차 생성·취소를 확인했고, HOST #501 접근 차단은 RLS 결과를 확인하되 직접 JWT 브라우저 조작은 완전히 검증하지 못했다고 기록합니다. ADMIN 실조작은 미검증입니다. Busan 0원은 fee_amount 표시 값이며 결제 모듈이 없습니다.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기획 의도는 장소 정보를 나열하는 여행에서 지역 주민과 함께 일상을 경험하는 여행으로 확장하는 것입니다. 호스트는 자신의 이야기와 관심사를 체험으로 구성하는 주체입니다.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다음 개발 단계는 호스트 운영 조건, 여행자 이용 경험, Agent 제안 품질을 순서대로 확인하는 것입니다. 각 항목은 실제 운영과 사용자 테스트를 통해 개선합니다.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5264943b30438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e7bf0e2e95446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18ff3facb34e1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83180b96714cc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2c034278a14fc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8630fd5db24d1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DF1C4B1-B869-43EB-85D2-90DD9C4D23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75EB0FB-0449-4C11-A330-89C787FA628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9BC14C2-AE10-43B1-BCA3-A013AD1162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58D2695-1745-44E0-9470-E433ABDAB9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88C39FB-193F-4054-A6C2-797A680A446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D587308-4631-4988-B823-FCE7539352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3F706CA-AD67-4EAE-9B6A-7A0DBD2AF60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E2330F4-BA4D-4C9A-867E-45F364822AF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3A6F88-943D-49F9-959D-8F64284997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4009995-8371-4554-AC5B-5699B4991A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16cc74325814d6e" /><Relationship Type="http://schemas.openxmlformats.org/officeDocument/2006/relationships/slideLayout" Target="/ppt/slideLayouts/slideLayout1.xml" Id="Rd81ab12cdbd849aa" /><Relationship Type="http://schemas.openxmlformats.org/officeDocument/2006/relationships/slideLayout" Target="/ppt/slideLayouts/slideLayout2.xml" Id="Rb2064ff442204ef7" /><Relationship Type="http://schemas.openxmlformats.org/officeDocument/2006/relationships/slideLayout" Target="/ppt/slideLayouts/slideLayout3.xml" Id="R5253c10b862b48f6" /><Relationship Type="http://schemas.openxmlformats.org/officeDocument/2006/relationships/slideLayout" Target="/ppt/slideLayouts/slideLayout4.xml" Id="Re50ff29b5e07406d" /><Relationship Type="http://schemas.openxmlformats.org/officeDocument/2006/relationships/slideLayout" Target="/ppt/slideLayouts/slideLayout5.xml" Id="R0f520b42ee864d4a" /><Relationship Type="http://schemas.openxmlformats.org/officeDocument/2006/relationships/slideLayout" Target="/ppt/slideLayouts/slideLayout6.xml" Id="R19c953c39be741b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81ab12cdbd849aa"/>
    <p:sldLayoutId xmlns:r="http://schemas.openxmlformats.org/officeDocument/2006/relationships" id="2147483650" r:id="Rb2064ff442204ef7"/>
    <p:sldLayoutId xmlns:r="http://schemas.openxmlformats.org/officeDocument/2006/relationships" id="2147483651" r:id="R5253c10b862b48f6"/>
    <p:sldLayoutId xmlns:r="http://schemas.openxmlformats.org/officeDocument/2006/relationships" id="2147483652" r:id="Re50ff29b5e07406d"/>
    <p:sldLayoutId xmlns:r="http://schemas.openxmlformats.org/officeDocument/2006/relationships" id="2147483653" r:id="R0f520b42ee864d4a"/>
    <p:sldLayoutId xmlns:r="http://schemas.openxmlformats.org/officeDocument/2006/relationships" id="2147483654" r:id="R19c953c39be741b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c356962e4a473a" /><Relationship Type="http://schemas.openxmlformats.org/officeDocument/2006/relationships/image" Target="/ppt/media/image.png" Id="Ra5784f12036c46a1" /><Relationship Type="http://schemas.openxmlformats.org/officeDocument/2006/relationships/notesSlide" Target="/ppt/notesSlides/notesSlide1.xml" Id="R0b7e95b81b9d4e6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cb8d91952c4d40" /><Relationship Type="http://schemas.openxmlformats.org/officeDocument/2006/relationships/notesSlide" Target="/ppt/notesSlides/notesSlide2.xml" Id="R78ecc2086095445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834cfa76fd4a6f" /><Relationship Type="http://schemas.openxmlformats.org/officeDocument/2006/relationships/notesSlide" Target="/ppt/notesSlides/notesSlide3.xml" Id="Rb7800b6642fd428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5d39db0fc2436d" /><Relationship Type="http://schemas.openxmlformats.org/officeDocument/2006/relationships/image" Target="/ppt/media/image2.png" Id="Re0b22eea174e4fbf" /><Relationship Type="http://schemas.openxmlformats.org/officeDocument/2006/relationships/image" Target="/ppt/media/image3.png" Id="Re084a8fee94946c6" /><Relationship Type="http://schemas.openxmlformats.org/officeDocument/2006/relationships/image" Target="/ppt/media/image4.png" Id="R9616675068c842aa" /><Relationship Type="http://schemas.openxmlformats.org/officeDocument/2006/relationships/notesSlide" Target="/ppt/notesSlides/notesSlide4.xml" Id="Rb2c101593b754f7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c80172b6214896" /><Relationship Type="http://schemas.openxmlformats.org/officeDocument/2006/relationships/notesSlide" Target="/ppt/notesSlides/notesSlide5.xml" Id="R2eb2e7f6f9e14c9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99c98cf1954e86" /><Relationship Type="http://schemas.openxmlformats.org/officeDocument/2006/relationships/notesSlide" Target="/ppt/notesSlides/notesSlide6.xml" Id="R4e44e6c9cc5144d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0ac421458a44ba" /><Relationship Type="http://schemas.openxmlformats.org/officeDocument/2006/relationships/notesSlide" Target="/ppt/notesSlides/notesSlide7.xml" Id="Rf71017227eab4ca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dd3e560a9b4a99" /><Relationship Type="http://schemas.openxmlformats.org/officeDocument/2006/relationships/notesSlide" Target="/ppt/notesSlides/notesSlide8.xml" Id="R9e9aa3768d604d7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f230c04b7a4525" /><Relationship Type="http://schemas.openxmlformats.org/officeDocument/2006/relationships/notesSlide" Target="/ppt/notesSlides/notesSlide9.xml" Id="R009ed17a10284a0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caaf7ffa6b452d" /><Relationship Type="http://schemas.openxmlformats.org/officeDocument/2006/relationships/notesSlide" Target="/ppt/notesSlides/notesSlide10.xml" Id="Rac21d3e90df2486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5932c9585f4962" /><Relationship Type="http://schemas.openxmlformats.org/officeDocument/2006/relationships/notesSlide" Target="/ppt/notesSlides/notesSlide11.xml" Id="Rb596e78cdb6c447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d6f57cd74c45df" /><Relationship Type="http://schemas.openxmlformats.org/officeDocument/2006/relationships/notesSlide" Target="/ppt/notesSlides/notesSlide12.xml" Id="R275912881d814c5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92C4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6FC0E7-2D8E-4911-BC8F-0C3DE8996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rPr>
              <a:t>LOCAL EXPERIENCE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98C052-6C70-4DB5-9D4D-6F82E437A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관광지에서 사람으로, 정보에서 경험으로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12A141-3492-4743-BA60-938D414F8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5334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3D1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54695A-7650-479C-902B-DB0741F6B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rPr>
              <a:t>LOCAL EUM  ·  기획과 구현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876D6E-60A4-43D8-A4B9-1A295BCFE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rPr>
              <a:t>01 / 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E91E9E-63B5-45F9-9D81-BF4297B91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619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4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여행, 한걸음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5C8DB0-8116-4DA4-B094-C1EAC694A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561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3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rPr>
              <a:t>LOCAL EUM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7341D6-09C9-4C15-95AE-672AF0EDD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5095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여행에서 만남으로,</a:t>
            </a:r>
          </a:p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만남에서 새로운 경험으로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C8C5F0-FBB1-4133-B7C8-ADD12B01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5095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rPr>
              <a:t>지역 주민의 이야기와 관심사를 여행자와 연결해,</a:t>
            </a:r>
          </a:p>
          <a:p xmlns:a="http://schemas.openxmlformats.org/drawingml/2006/main">
            <a:pPr algn="l">
              <a:defRPr sz="1425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rPr>
              <a:t>평범한 일상을 함께하는 체험으로 만듭니다.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29ABB0-F7EF-42C2-88A1-4C833D4391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784f12036c46a1"/>
          <a:srcRect xmlns:a="http://schemas.openxmlformats.org/drawingml/2006/main" l="189" t="0" r="1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2250" y="1752600"/>
            <a:ext cx="50101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51638E-A6FE-416F-98C9-74C04F536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67300"/>
            <a:ext cx="17335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F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602072-64B3-467D-8CBE-F9CEB2264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14925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rPr>
              <a:t>실제 UI 캡처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66B2A5-4EAA-4418-9674-8482F6E55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D8E5E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D8E5E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D8E5E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D8E5E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D8E5E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D8E5E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D8E5E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D8E5E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D8E5E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D8E5E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D8E5E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D8E5ED"/>
                </a:solidFill>
                <a:latin typeface="Malgun Gothic"/>
                <a:ea typeface="Malgun Gothic"/>
                <a:cs typeface="Malgun Gothic"/>
              </a:rPr>
              <a:t>지역의 일상이 여행자의 기억이 되는 경험을 만듭니다.</a:t>
            </a:r>
          </a:p>
        </p:txBody>
      </p:sp>
    </p:spTree>
    <p:extLst>
      <p:ext uri="{BB962C8B-B14F-4D97-AF65-F5344CB8AC3E}">
        <p14:creationId xmlns:p14="http://schemas.microsoft.com/office/powerpoint/2010/main" val="17951407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45DFFB-A262-4D0F-A022-21680CF97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WHY LOCAL EUM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4B86D9-4406-45E8-848D-47D348AD9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지역 주민의 이야기가 여행의 경험이 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7BCC14-DBDC-4492-9BFD-25CE4083A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5334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9B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044E5E-220F-49F5-8740-4008D68E2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LOCAL EUM  ·  기획과 구현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66A0AC-B4B1-4674-8B4C-AC8A7C6B1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02 / 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609748-FD54-4A54-ABB3-636550E91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5048250" cy="219075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34D830-96D5-4998-92C5-7468D8588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66675" cy="21907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E78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1D1ED3-8DF7-4505-988F-33A9F1F59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47850"/>
            <a:ext cx="4629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여행자에게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6F8935-A563-4BBB-9C9E-7FC4E895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47900"/>
            <a:ext cx="46291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방문 장소와 명소 정보는 많지만,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지역 주민과 일상을 함께하는 경험은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쉽게 찾기 어렵습니다.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3AA152-794F-4A8A-89E4-05BE6A11E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76400"/>
            <a:ext cx="5657850" cy="219075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80C941-E549-44EB-9939-DE9C8F5D7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76400"/>
            <a:ext cx="66675" cy="21907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29B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2EDFEE-79F3-4006-AB76-E02BA572A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84785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지역 호스트에게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D1C3E4-FBDE-42B9-9AB8-F0A7D29EC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247900"/>
            <a:ext cx="52387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지역 주민의 이야기와 관심사를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여행 경험으로 소개하고 운영할 수 있는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프로그램과 도구가 필요합니다.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C7B304-22BE-43B1-B5E6-FCD7DBBEB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109728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624EDA-1031-4789-A8A5-7C5F6E7F9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로컬이음의 역할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42456F-8370-4A85-ABED-667657A5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1000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여행자와 지역 주민을 연결해</a:t>
            </a:r>
          </a:p>
          <a:p xmlns:a="http://schemas.openxmlformats.org/drawingml/2006/main">
            <a:pPr algn="l">
              <a:defRPr sz="18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평범한 지역의 일상을 함께하는 체험으로 만듭니다.</a:t>
            </a:r>
          </a:p>
        </p:txBody>
      </p:sp>
    </p:spTree>
    <p:extLst>
      <p:ext uri="{BB962C8B-B14F-4D97-AF65-F5344CB8AC3E}">
        <p14:creationId xmlns:p14="http://schemas.microsoft.com/office/powerpoint/2010/main" val="184620971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9EF3A4A-303F-4E34-A6DB-4EA0516A0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SERVICE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152BB3-D2AE-4932-8AED-EB361BB1E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한 서비스 안에서 여행자와 호스트의 흐름을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D672E7-9BE7-4008-9DF5-2BC2DE31E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5334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9B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DF9A72-248F-4E0C-A08E-5A1C62F37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LOCAL EUM  ·  기획과 구현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6D143D-09C8-4B41-91EF-46A18D087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03 / 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6B050F-8F3F-46F9-AD11-9137E46AE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rPr>
              <a:t>여행자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A20637-4E6D-4B36-A283-D11984D11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2343150" cy="8382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60FADA-F8F2-4368-9C80-3BA3DBC7D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34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D5E7E2-C9E8-44BE-B933-D1BB2681E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146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체험 검색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97E238-86BB-4329-B69C-5CF166F2A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3241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8D5160-9A7A-4DB5-AAE0-1B8762CE8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57400"/>
            <a:ext cx="2343150" cy="8382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12D9ED-201D-4B09-90FF-8A9982B0E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190750"/>
            <a:ext cx="34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9D9B8C-4B65-4ECE-99DF-F7727A913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5146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상세·호스트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A09BCC-E821-4E8F-A43C-85912A12D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3241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793420-2168-4353-B74B-D98441D8F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057400"/>
            <a:ext cx="2343150" cy="8382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80C2A7-905B-457F-A61B-1676FC78A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90750"/>
            <a:ext cx="34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5A10D5-D4B5-4E13-8ED7-4CB7110D7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146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회차 선택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8320BE-1C7F-4843-BB92-3E7BB876A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241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469C6F-8E78-4ECC-B6D1-8DBA6C751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057400"/>
            <a:ext cx="2343150" cy="8382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E6F4F2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B740E8-A850-4C8C-A5AA-AD8E94D5E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190750"/>
            <a:ext cx="34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AF6867-1EF8-4806-A4A6-1740E0BDA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5146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신청·접수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5097E7-5354-43DE-B809-10C5C46D3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호스트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CDEC99-C32D-4115-AF10-6E2496B13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2343150" cy="8382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A0A5A5-A89C-43FE-8708-A810642B7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34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971E4C-E3CD-4C88-91D3-9C1F9F2D0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862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로그인·내 체험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B83C42-DD60-44FE-AB64-595C45F82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9572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15DB57-AFC4-46B3-B067-3DAEC3829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29025"/>
            <a:ext cx="2343150" cy="8382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05DFEA6-2A79-46D9-9602-870167A3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762375"/>
            <a:ext cx="34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19D892-329E-41AD-961D-7995A7E25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0862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회차 운영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30FFCA-5569-4B97-BE62-5A08729F6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89572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A529BA0-D488-4645-98D3-D4C3D8408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29025"/>
            <a:ext cx="2343150" cy="8382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781A35-1316-4EF1-8F96-0DCA56EFC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62375"/>
            <a:ext cx="34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F6D3CC-086D-4DA7-ACA8-ECC808F47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0862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신청자 관리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3844FED-3A0E-4E9A-94B1-3453ABAB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89572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F6C62C8-C769-492A-8B1B-1304ABA4B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629025"/>
            <a:ext cx="2343150" cy="8382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7F03535-BB10-4528-AF04-F98EEC736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762375"/>
            <a:ext cx="34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74A0659-26F8-4482-88EC-8C52F483C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0862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AI 제안 검토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7A207EF-224E-4409-B6EE-A61E130E5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109728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7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4ABF0D2-75A1-4DEB-8DDE-C09A001D0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95875"/>
            <a:ext cx="10439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경계  ·  신청·접수는 구현되어 있지만, 결제는 시연 안내이며 실제 결제·환불은 제공하지 않습니다.</a:t>
            </a:r>
          </a:p>
          <a:p xmlns:a="http://schemas.openxmlformats.org/drawingml/2006/main">
            <a: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호스트의 편집·신청자 조회는 로그인 권한과 RLS의 영향을 받습니다.</a:t>
            </a:r>
          </a:p>
        </p:txBody>
      </p:sp>
    </p:spTree>
    <p:extLst>
      <p:ext uri="{BB962C8B-B14F-4D97-AF65-F5344CB8AC3E}">
        <p14:creationId xmlns:p14="http://schemas.microsoft.com/office/powerpoint/2010/main" val="9190508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08F20E-F42A-4BDF-81F4-E89487381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LIVE UI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2633D7-1BCD-4B9A-AB9D-53753109B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화면으로 확인한 현재 구현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B5DC2E-F68C-487D-9073-3DC53EEA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5334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9B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629718-88E1-4C88-A50D-C4651105D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LOCAL EUM  ·  기획과 구현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8907C4-75D3-486D-9BCC-7567D379C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04 / 12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06BAB7-06AA-4107-BD04-0D3A83651C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b22eea174e4fbf"/>
          <a:srcRect xmlns:a="http://schemas.openxmlformats.org/drawingml/2006/main" l="7933" t="0" r="793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57350"/>
            <a:ext cx="3333750" cy="2476500"/>
          </a:xfrm>
          <a:prstGeom xmlns:a="http://schemas.openxmlformats.org/drawingml/2006/main" prst="roundRect">
            <a:avLst>
              <a:gd name="adj" fmla="val 4615"/>
            </a:avLst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DA13E9-0952-488B-A44A-484BBD480A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84a8fee94946c6"/>
          <a:srcRect xmlns:a="http://schemas.openxmlformats.org/drawingml/2006/main" l="7933" t="0" r="793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29125" y="1657350"/>
            <a:ext cx="3333750" cy="2476500"/>
          </a:xfrm>
          <a:prstGeom xmlns:a="http://schemas.openxmlformats.org/drawingml/2006/main" prst="roundRect">
            <a:avLst>
              <a:gd name="adj" fmla="val 4615"/>
            </a:avLst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C5D809-BFE0-4B2E-A0CC-645E7591206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16675068c842aa"/>
          <a:srcRect xmlns:a="http://schemas.openxmlformats.org/drawingml/2006/main" l="7933" t="0" r="793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48650" y="1657350"/>
            <a:ext cx="3333750" cy="2476500"/>
          </a:xfrm>
          <a:prstGeom xmlns:a="http://schemas.openxmlformats.org/drawingml/2006/main" prst="roundRect">
            <a:avLst>
              <a:gd name="adj" fmla="val 4615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D3BFB5-4B39-4BBB-9B23-E070D70A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333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01  공개 체험 목록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8D0A6D-002B-4E66-A618-1F36A3BAC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지역·관심분야 필터와</a:t>
            </a:r>
          </a:p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공개 체험 15개 표시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EE67A4-022C-4835-A212-059EB1E53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305300"/>
            <a:ext cx="3333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02  상세·회차·신청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2F7FAD-BA38-48AA-A6BA-83C5692A9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66725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장소·시간·참가비와</a:t>
            </a:r>
          </a:p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신청 진입 버튼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B6FF49-2809-49FC-A8E8-48D31F5D9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05300"/>
            <a:ext cx="3333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03  호스트 공개 데모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0CF891-85FC-4F1A-AC12-7BF04B2CC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66725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가상 데이터·읽기 전용</a:t>
            </a:r>
          </a:p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실제 HOST 정보는 미노출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08F81A-7450-461D-B119-09E21C29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1FE9D8-918C-45E2-AB5F-4B038389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43575"/>
            <a:ext cx="1057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12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12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12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12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12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12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12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12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12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주의  ·  카드 이미지는 앱에서 AI 생성 이미지로 표시됩니다. 화면은 로컬 개발 환경의 실제 렌더링 캡처입니다.</a:t>
            </a:r>
          </a:p>
        </p:txBody>
      </p:sp>
    </p:spTree>
    <p:extLst>
      <p:ext uri="{BB962C8B-B14F-4D97-AF65-F5344CB8AC3E}">
        <p14:creationId xmlns:p14="http://schemas.microsoft.com/office/powerpoint/2010/main" val="18620509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2783A5B-1691-43BA-BE44-8E1A91DE0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DATA MODEL  ·  READ-ONLY SNAPSHOT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D0ECB5-5DA8-4234-873D-B5C0B453F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Supabase 실제 조회: 작은 운영 데이터와 명확한 관계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8F87CC-AF3D-493B-8816-44E0B4F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5334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9B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22CA23-757A-4CCC-B738-E67828841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LOCAL EUM  ·  기획과 구현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B9F416-98F1-4485-A753-015C89CEA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05 / 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A573C8-6494-4629-A761-566CA546F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3390900" cy="6858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03D823-6BD2-461E-BC84-3BAAE97D9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716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호스트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D1045C-FC20-4EAE-8B7B-C7610BE4E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71650"/>
            <a:ext cx="647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DD3669-5C49-4AEC-9B84-62A0E938C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57350"/>
            <a:ext cx="3390900" cy="6858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5FCA81-363A-4959-807C-AC91101B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7716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체험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CAAB8D-B0FF-474D-B367-6B9E2D80E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71650"/>
            <a:ext cx="647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F70CB0-5E3B-49AC-8E41-EF603D91A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57350"/>
            <a:ext cx="3390900" cy="6858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9FC960-C167-414F-95A7-F4364AEAA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7716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운영 회차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76E9AB-D767-48D4-B6B1-12AACC9CB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71650"/>
            <a:ext cx="647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rPr>
              <a:t>19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BB69CB-272D-406F-8869-767AEE75A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3390900" cy="6858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F7A171-93D6-47DE-8107-101C8BA99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일정 단계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910219-AF07-453A-AF06-E979CCAB3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647950"/>
            <a:ext cx="647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rPr>
              <a:t>68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B8192F-A95A-4926-976E-61920E05B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33650"/>
            <a:ext cx="3390900" cy="6858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8D5675-95D1-4AE1-A636-8E17229FD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479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신청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B54B67-0625-4485-9434-9CD285132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647950"/>
            <a:ext cx="647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5C54BC-D80F-4193-BE1C-6A0209FA6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533650"/>
            <a:ext cx="3390900" cy="6858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AC895C-4FD0-4E7E-AE2A-EFBCF2BEC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479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시연 결제 안내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F1558D-22A8-4BB3-897C-D7A9BC6E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647950"/>
            <a:ext cx="647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747936-9B79-40FD-A6BE-7C48E428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752600" cy="800100"/>
          </a:xfrm>
          <a:prstGeom xmlns:a="http://schemas.openxmlformats.org/drawingml/2006/main" prst="roundRect">
            <a:avLst>
              <a:gd name="adj" fmla="val 15476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3819AF-2A09-4CED-B369-3C72475C1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1485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HOST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9265B4-79C7-4799-B33E-1179D5C7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24350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lc_hosts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371235-7268-4800-A87E-A65C19C0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857625"/>
            <a:ext cx="1752600" cy="800100"/>
          </a:xfrm>
          <a:prstGeom xmlns:a="http://schemas.openxmlformats.org/drawingml/2006/main" prst="roundRect">
            <a:avLst>
              <a:gd name="adj" fmla="val 15476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7518EF-B088-456E-BA1B-6B29AF17F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000500"/>
            <a:ext cx="1485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체험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F6AAB5-3A8E-4B0B-8F51-5D4F5ECB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324350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lc_experiences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F28B55-4D73-4235-9013-16340C4FC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857625"/>
            <a:ext cx="1752600" cy="800100"/>
          </a:xfrm>
          <a:prstGeom xmlns:a="http://schemas.openxmlformats.org/drawingml/2006/main" prst="roundRect">
            <a:avLst>
              <a:gd name="adj" fmla="val 15476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AFFA98-CD44-4497-A1FC-1D9CC7BB5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000500"/>
            <a:ext cx="1485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회차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FB51FEB-6E5F-4DF8-85AD-1DDAC578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324350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lc_sessions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831E215-3984-424E-8771-9E91B664C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57625"/>
            <a:ext cx="1752600" cy="800100"/>
          </a:xfrm>
          <a:prstGeom xmlns:a="http://schemas.openxmlformats.org/drawingml/2006/main" prst="roundRect">
            <a:avLst>
              <a:gd name="adj" fmla="val 15476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5103D8-30E2-43AA-B42A-E1DC26A57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000500"/>
            <a:ext cx="1485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신청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376513A-0BEA-436F-BE2E-F436EF558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324350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lc_applications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3F25BE9-F8E9-4C4B-A266-87D394A06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857625"/>
            <a:ext cx="1752600" cy="800100"/>
          </a:xfrm>
          <a:prstGeom xmlns:a="http://schemas.openxmlformats.org/drawingml/2006/main" prst="roundRect">
            <a:avLst>
              <a:gd name="adj" fmla="val 15476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938C8B3-3AD2-4338-BC2D-7FD7466A4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000500"/>
            <a:ext cx="1485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결제 안내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570E982-50DB-4A67-A0E8-AD7FD53AD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324350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lc_application_payments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9E3EE05-812E-4AAE-A353-86CA791FB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105275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667"/>
          </a:bodyPr>
          <a:lstStyle xmlns:a="http://schemas.openxmlformats.org/drawingml/2006/main">
            <a:def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7EF8C3F-1B2A-41A4-A8A0-BE16153BA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105275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667"/>
          </a:bodyPr>
          <a:lstStyle xmlns:a="http://schemas.openxmlformats.org/drawingml/2006/main">
            <a:def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7796C51-B267-491B-9092-F61BAF5B0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105275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667"/>
          </a:bodyPr>
          <a:lstStyle xmlns:a="http://schemas.openxmlformats.org/drawingml/2006/main">
            <a:def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F2E43B3-07CE-4D2A-BE63-854BC7D3E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05275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667"/>
          </a:bodyPr>
          <a:lstStyle xmlns:a="http://schemas.openxmlformats.org/drawingml/2006/main">
            <a:def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6E3F31D-10FD-4839-AA2A-52ABC905A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서울·부산·창원 언어·친구 3건은 PUBLISHED, 연결 회차는 RECRUITING.</a:t>
            </a:r>
          </a:p>
          <a:p xmlns:a="http://schemas.openxmlformats.org/drawingml/2006/main">
            <a: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진행 가능 언어는 3건 모두 미확인 빈 배열이며, 0원 회차 1건은 실제 결제가 연결된 뜻이 아닙니다.</a:t>
            </a:r>
          </a:p>
        </p:txBody>
      </p:sp>
    </p:spTree>
    <p:extLst>
      <p:ext uri="{BB962C8B-B14F-4D97-AF65-F5344CB8AC3E}">
        <p14:creationId xmlns:p14="http://schemas.microsoft.com/office/powerpoint/2010/main" val="128619465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FA6578B-EC45-4CE7-A77B-9152655A5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LOCAL EUM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D1F5E9-FB59-46B5-B38B-8B7B3E8B1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여행자 화면과 호스트 운영을 Supabase로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59CC9E-38CB-4114-9C98-704CA29D9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5334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9B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86CC9C-5BBC-473B-8C3D-08A0A8A9B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LOCAL EUM  ·  기획과 구현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09CF63-8658-466D-A9F4-D9FF9258D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06 / 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D85B52-20C6-4FEE-9438-11E59952F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7143750" cy="3429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325442-3673-4300-A9C0-378C3A44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38325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여행자·HOST 브라우저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3D497E-6F1F-4911-8F8D-3F6E5CCA9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228600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75E4B8-0EB8-4FFA-AC07-387830123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495550"/>
            <a:ext cx="1866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React + Vite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418DA0-C85D-4393-B5A5-842632135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384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993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공통 Header / App 라우터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/local-eum 화면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26CD84-52F8-4651-88CD-502ED2E4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324100"/>
            <a:ext cx="331470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6F4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567C8C-20E0-4DAC-9026-495646856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495550"/>
            <a:ext cx="289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Supabase Auth + PostgreSQL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F10D99-E424-4292-8601-E80F506E1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83845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993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로그인·역할·체험 데이터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RLS가 행 접근을 제한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1B731A-D0C3-4205-A064-B9804D26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26670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679173-BF68-47F5-95E6-52ED4559F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76650"/>
            <a:ext cx="228600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D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07726B-4158-4DD4-8016-7EDE50D39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48100"/>
            <a:ext cx="1866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45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Storage + Kakao Maps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EB6C7D-E1A0-4AA6-AAAC-1D3D57E0E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993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체험 이미지와 주소 기반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지도·길찾기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85697E-5A56-4D7C-A52C-95B33453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676650"/>
            <a:ext cx="331470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7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CE9C7B-80A0-4434-917F-582A0B6E9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848100"/>
            <a:ext cx="289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Edge Function: AI Agent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1D09E3-D0C2-40ED-A0F3-7374118D9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19100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993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HOST 권한 확인 → 도구 실행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→ Codyssey COPA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313D80-7A28-48A9-B3C4-AA2A039D0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57350"/>
            <a:ext cx="3429000" cy="1524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A1537C-E71E-4B49-AC2F-0171D00F5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57350"/>
            <a:ext cx="66675" cy="15240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06D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43EF30-E782-4ED8-A772-B11E44EE5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828800"/>
            <a:ext cx="300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체험 운영 데이터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07CD6D-D5C8-4D8E-AC61-DEE7F7E2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247900"/>
            <a:ext cx="3009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체험 소개와 단계별 일정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모집 회차와 신청 정보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호스트 역할에 따른 접근 제한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045B86-6AA0-4299-8B09-0A1AE6B87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409950"/>
            <a:ext cx="3429000" cy="16764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93A514-232F-4511-8F2A-93A00B7A0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409950"/>
            <a:ext cx="66675" cy="16764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E78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29BA74-E6BE-4EDC-8BDC-3180544C1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581400"/>
            <a:ext cx="300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AI 기획 지원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F94CE31-CF68-42AA-B272-00C2ADFB1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00500"/>
            <a:ext cx="30099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146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지역 자료와 체험 정보를 바탕으로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운영 아이디어를 제안합니다.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호스트가 검토하고 편집한 뒤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기존 프로필에 저장합니다.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881E3FA-D5A4-4E74-B666-1747B01B6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서비스 흐름  ·  여행자는 체험을 찾고 신청하며 호스트는 회차와 참가자를 관리합니다.</a:t>
            </a:r>
          </a:p>
        </p:txBody>
      </p:sp>
    </p:spTree>
    <p:extLst>
      <p:ext uri="{BB962C8B-B14F-4D97-AF65-F5344CB8AC3E}">
        <p14:creationId xmlns:p14="http://schemas.microsoft.com/office/powerpoint/2010/main" val="19034863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01AA9FF-699C-4920-9D29-33EB775EC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AI EXPERIENCE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11CA08-1C08-4C86-A295-BD9C248E9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AI는 답변기가 아니라, 검증된 도구를 순서대로 호출하는 보조자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9EC027-CC68-414C-B35E-76CBC3929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5334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9B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50D04F-28D6-407F-8284-116896657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LOCAL EUM  ·  기획과 구현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91F7E8-388D-4E80-AF47-357B7529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07 / 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D63E0A-9831-48D8-AEEF-776C3565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924050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DE39D9-0814-4C14-A651-085DAD4E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81200"/>
            <a:ext cx="3429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2C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603956-404B-484D-BED6-A87977AD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2882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7EEF7C-8A06-4878-B1C2-EC10FD89C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38400"/>
            <a:ext cx="1581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HOST 요청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7E3D07-69C2-4A0D-ADDE-83494F2C0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581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현재 체험 분석</a:t>
            </a:r>
          </a:p>
          <a:p xmlns:a="http://schemas.openxmlformats.org/drawingml/2006/main">
            <a: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또는 아이디어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1DD4E3-0364-4CCC-82A5-6E3ADDCA7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495550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2E530D-90D2-48EF-B752-745B5D1B5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1809750"/>
            <a:ext cx="1924050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8275F7-2BFC-4694-B92E-868CB38F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1981200"/>
            <a:ext cx="3429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2C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047E4C-4241-4FFD-96B8-863A5F772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02882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098085-75CF-4A11-8AAB-7B8D0F641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438400"/>
            <a:ext cx="1581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Edge 검증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7CFEBA-47DE-4A8D-94E4-8FF494284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819400"/>
            <a:ext cx="1581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JWT · HOST 역할</a:t>
            </a:r>
          </a:p>
          <a:p xmlns:a="http://schemas.openxmlformats.org/drawingml/2006/main">
            <a: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소유권 · 입력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1BBDAA-9BCA-42EF-B602-E950D5078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495550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11F341-49F9-42A2-B80E-D407CE4F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809750"/>
            <a:ext cx="1924050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5FCB0E-0E23-421E-859C-2A735C677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1981200"/>
            <a:ext cx="3429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2C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3644A0-5568-4BA4-94BF-B9AA6F1D2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02882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3BCCDC-AD15-482C-905E-9A7F4051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438400"/>
            <a:ext cx="1581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JSON 인자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6997A2-3AAB-4583-A2C6-852D4773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819400"/>
            <a:ext cx="1581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모델은 허용 도구의</a:t>
            </a:r>
          </a:p>
          <a:p xmlns:a="http://schemas.openxmlformats.org/drawingml/2006/main">
            <a: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인자만 제안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6A6013-E127-4C82-82A7-6C9D5BDEC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495550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B6617E-EBC1-4C42-BE19-1A77680D0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809750"/>
            <a:ext cx="1924050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6EDB97-B93D-4C40-819D-F09B7D70F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1981200"/>
            <a:ext cx="3429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2C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71A791-5784-4D61-9F93-F9E88460E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02882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2C396B4-8C8E-4EBA-A2D3-4A2523D24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2438400"/>
            <a:ext cx="1581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서버 도구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9B2D5A-5C04-495A-B940-CCA95592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2819400"/>
            <a:ext cx="1581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검색 · RAG · 평가</a:t>
            </a:r>
          </a:p>
          <a:p xmlns:a="http://schemas.openxmlformats.org/drawingml/2006/main">
            <a: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비용 계산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0617D2-0A3C-451E-B83E-4F8C79BE2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95550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29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E08FCD-67B8-4B7B-AAB9-B263EC327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809750"/>
            <a:ext cx="1924050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E6F4F2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FD260F-8BA7-48BF-86C9-44BCD36C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1981200"/>
            <a:ext cx="3429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9B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8E72288-E2DB-422B-9A09-5CFEA489E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02882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4F21102-E17D-4E7F-948D-EF5AC8983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438400"/>
            <a:ext cx="1581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결과 검토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850962F-BFC4-447A-A90D-89FF56CFB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19400"/>
            <a:ext cx="1581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근거·위험 표시</a:t>
            </a:r>
          </a:p>
          <a:p xmlns:a="http://schemas.openxmlformats.org/drawingml/2006/main">
            <a: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HOST가 편집·저장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658710D-DF3A-4639-9A66-B78E43FC1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5219700" cy="1581150"/>
          </a:xfrm>
          <a:prstGeom xmlns:a="http://schemas.openxmlformats.org/drawingml/2006/main" prst="roundRect">
            <a:avLst>
              <a:gd name="adj" fmla="val 96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2286C70-3EFE-44BE-B39F-D29B63372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66675" cy="15811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E78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8810635-023D-4CBF-A23E-072DEF55D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81450"/>
            <a:ext cx="480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구현된 도구 4개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AEA6C47-9E67-4D7B-BEC3-216EF540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10075"/>
            <a:ext cx="48006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공개 체험 검색 · 지역 자료 검색(RAG)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5개 가치 기준 평가 · 운영비 산식 계산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출처 ID와 결과 형식을 Edge에서 검증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A74709B-471E-47B7-B94D-3D971C80D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810000"/>
            <a:ext cx="5524500" cy="1581150"/>
          </a:xfrm>
          <a:prstGeom xmlns:a="http://schemas.openxmlformats.org/drawingml/2006/main" prst="roundRect">
            <a:avLst>
              <a:gd name="adj" fmla="val 9639"/>
            </a:avLst>
          </a:prstGeom>
          <a:solidFill xmlns:a="http://schemas.openxmlformats.org/drawingml/2006/main">
            <a:srgbClr val="FFF0ED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693E5A4-995B-4B17-B813-C7328EFD8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810000"/>
            <a:ext cx="66675" cy="15811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06D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1167927-1DB6-47D8-AB5D-5AC1B596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981450"/>
            <a:ext cx="510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중요한 기술 경계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5257572-B0AF-4B79-B537-FE07E3611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410075"/>
            <a:ext cx="51054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COPA 네이티브 Tool Calling 사용 아님.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일반 채팅으로 JSON 인자를 받아 허용 목록으로 실행.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테스트 16개는 모의 모델 검증이며 비용·품질 보증은 아님.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CBF8A17-B69F-409B-BBD8-25347494D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자동 저장·확정 금지  →  HOST가 결과를 검토하고 편집란으로 복사한 뒤 별도 저장</a:t>
            </a:r>
          </a:p>
        </p:txBody>
      </p:sp>
    </p:spTree>
    <p:extLst>
      <p:ext uri="{BB962C8B-B14F-4D97-AF65-F5344CB8AC3E}">
        <p14:creationId xmlns:p14="http://schemas.microsoft.com/office/powerpoint/2010/main" val="19943750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DD63C7-E9A6-47A8-BA0B-769051D31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LANGUAGE &amp; PLACE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76C29C-0511-4362-97DA-61D2486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화면 언어, 번역 검수, 실제 진행 언어는 서로 다릅니다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6D2628-62E3-4219-9342-F4DC32D7A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5334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9B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1B7D46-80FE-4FBE-BD11-FBAE93988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LOCAL EUM  ·  기획과 구현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9D7415-4705-495C-AC60-7F44FF43A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08 / 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A1B68B-F628-4A34-B2FC-3E383C1AD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6191250" cy="647700"/>
          </a:xfrm>
          <a:prstGeom xmlns:a="http://schemas.openxmlformats.org/drawingml/2006/main" prst="roundRect">
            <a:avLst>
              <a:gd name="adj" fmla="val 191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3CE338-46F1-442C-8355-ACB6A1B39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0500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화면 전환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A7E8D7-0606-4983-AA8D-E2DA59D5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90500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rPr>
              <a:t>ko / en / 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EA407B-9E4E-43A1-AF02-E4FA015F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0500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인터페이스 언어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7F32D9-416A-4315-9314-E147DB071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6191250" cy="647700"/>
          </a:xfrm>
          <a:prstGeom xmlns:a="http://schemas.openxmlformats.org/drawingml/2006/main" prst="roundRect">
            <a:avLst>
              <a:gd name="adj" fmla="val 191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6F2A9E-6B66-47C0-A5B4-FE0CC72F9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241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콘텐츠 번역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234FB6-0658-4D15-A4F3-937EFEA53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7241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rPr>
              <a:t>영·일 초안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4DCF98-68D7-4670-82BB-42AF6FB96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2415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검수 상태 DRAFT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D8F644-B22D-4469-BE39-B1BEE31A5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6191250" cy="647700"/>
          </a:xfrm>
          <a:prstGeom xmlns:a="http://schemas.openxmlformats.org/drawingml/2006/main" prst="roundRect">
            <a:avLst>
              <a:gd name="adj" fmla="val 19118"/>
            </a:avLst>
          </a:prstGeom>
          <a:solidFill xmlns:a="http://schemas.openxmlformats.org/drawingml/2006/main">
            <a:srgbClr val="E6F4F2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A27D25-9F82-43A0-92AA-481B97FB4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4330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진행 가능 언어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797CB2-90E5-4F3F-8102-C46FF3F4B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54330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E78BD"/>
                </a:solidFill>
                <a:latin typeface="Malgun Gothic"/>
                <a:ea typeface="Malgun Gothic"/>
                <a:cs typeface="Malgun Gothic"/>
              </a:rPr>
              <a:t>HOST 확인값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CFF23D-9870-486C-8A68-D1818F9FB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4330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실제 안내 가능 여부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D646F5-33EF-4181-81CB-996274814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714500"/>
            <a:ext cx="4343400" cy="1466850"/>
          </a:xfrm>
          <a:prstGeom xmlns:a="http://schemas.openxmlformats.org/drawingml/2006/main" prst="roundRect">
            <a:avLst>
              <a:gd name="adj" fmla="val 10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3B665D-3F57-4CD7-9910-0F746A855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714500"/>
            <a:ext cx="66675" cy="14668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29B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D08995-E565-40A3-BBDE-AA845480D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885950"/>
            <a:ext cx="3924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주소 기반 지도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5FCCA0-14A3-4AEB-9E65-36368200F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05050"/>
            <a:ext cx="3924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확인된 주소를 보여주고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Kakao Maps에서 주소를 검색합니다.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좌표는 임의 생성·DB 저장하지 않음.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045150-A174-4EFD-8E4C-87D41079A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90900"/>
            <a:ext cx="4343400" cy="1466850"/>
          </a:xfrm>
          <a:prstGeom xmlns:a="http://schemas.openxmlformats.org/drawingml/2006/main" prst="roundRect">
            <a:avLst>
              <a:gd name="adj" fmla="val 10390"/>
            </a:avLst>
          </a:prstGeom>
          <a:solidFill xmlns:a="http://schemas.openxmlformats.org/drawingml/2006/main">
            <a:srgbClr val="FFF7E7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8252E1-1A86-401D-B0B8-565FF0516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90900"/>
            <a:ext cx="66675" cy="14668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99C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66C83E-16EC-491F-BF5D-E7211464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62350"/>
            <a:ext cx="3924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운영 전 과제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AA8628-3413-4980-8A8C-FD49D6858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981450"/>
            <a:ext cx="3924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번역 초안의 원어민 검수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호스트별 실제 진행 언어 확인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주소·집결 장소와 상업 이용 승인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4AD434-826E-4819-8536-D7CEB5E3F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6191250" cy="895350"/>
          </a:xfrm>
          <a:prstGeom xmlns:a="http://schemas.openxmlformats.org/drawingml/2006/main" prst="roundRect">
            <a:avLst>
              <a:gd name="adj" fmla="val 15957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E2D1A6-83C3-4CAF-9CDC-3F7BAA1C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72025"/>
            <a:ext cx="5753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3개 언어·친구 체험의 `available_languages`는</a:t>
            </a:r>
          </a:p>
          <a:p xmlns:a="http://schemas.openxmlformats.org/drawingml/2006/main">
            <a:pPr algn="l">
              <a:def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원격 조회 시 모두 빈 배열로 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1EF857-2762-4BFF-A801-1F28A37D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다국어 표시가 가능하다는 것과 외국어로 안전하게 운영할 수 있다는 것은 다른 검증입니다.</a:t>
            </a:r>
          </a:p>
        </p:txBody>
      </p:sp>
    </p:spTree>
    <p:extLst>
      <p:ext uri="{BB962C8B-B14F-4D97-AF65-F5344CB8AC3E}">
        <p14:creationId xmlns:p14="http://schemas.microsoft.com/office/powerpoint/2010/main" val="29918084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E82083-200E-42F0-8A67-5F1E0C331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PROGRESS &amp;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443B73-10A6-4B6A-AB0A-E902AF0DE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기능은 연결되고 있지만, 테스트 범위와 운영 증거를 나눠 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81CED6-B3D3-482A-886E-628F8BC5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5334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9B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D14686-9F21-4999-97D5-542EABF05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LOCAL EUM  ·  기획과 구현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624396-6856-4969-98C1-00A8CC1FD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09 / 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677D96-FF7E-4042-813C-36DFB71E1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647700"/>
          </a:xfrm>
          <a:prstGeom xmlns:a="http://schemas.openxmlformats.org/drawingml/2006/main" prst="roundRect">
            <a:avLst>
              <a:gd name="adj" fmla="val 191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B925B7-D5C2-4E06-9EC6-0B673F779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771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화면·데이터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342571-EA5D-4C67-A042-B75E0544A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828800"/>
            <a:ext cx="499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공개 목록·상세·신청·호스트 공간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5D447F-B139-403A-B83E-5533F1C7F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819275"/>
            <a:ext cx="31051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8F7E81-9156-45DD-B6B1-E4DE29E3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66900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코드 + 실제 로컬 화면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599B55-75CB-4D7F-9AA0-3A1C6D5AE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10972800" cy="647700"/>
          </a:xfrm>
          <a:prstGeom xmlns:a="http://schemas.openxmlformats.org/drawingml/2006/main" prst="roundRect">
            <a:avLst>
              <a:gd name="adj" fmla="val 191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7B982D-C948-4EB3-AF60-498443D5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47950"/>
            <a:ext cx="1771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DB 운영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0039BC-C766-4CF4-B895-4BCCAB5DE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647950"/>
            <a:ext cx="499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2 HOST · 15 체험 · 19 회차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46FF5E-B8D4-4121-B9C4-A039150B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638425"/>
            <a:ext cx="31051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6F4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D0AEB2-1506-4B9C-86DB-3895885D4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86050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126B6B"/>
                </a:solidFill>
                <a:latin typeface="Malgun Gothic"/>
                <a:ea typeface="Malgun Gothic"/>
                <a:cs typeface="Malgun Gothic"/>
              </a:rPr>
              <a:t>2026-10-20 read-only 조회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E327E2-41F9-4380-9A61-2F1AD6356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647700"/>
          </a:xfrm>
          <a:prstGeom xmlns:a="http://schemas.openxmlformats.org/drawingml/2006/main" prst="roundRect">
            <a:avLst>
              <a:gd name="adj" fmla="val 191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35982D-EC7B-415C-9AED-88A49F0A8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67100"/>
            <a:ext cx="1771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AI Agent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F9BE42-C04F-4BC8-9F01-728A675BE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467100"/>
            <a:ext cx="499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4 도구 · JSON adapter · HOST 검토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10A389-9454-4D45-A572-039CE16E8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57575"/>
            <a:ext cx="31051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B4D782-BB21-4735-862D-D35080981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505200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코드 + 모의 테스트 16개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DBED3A-EA3B-4E77-A2CA-045AEACD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10972800" cy="647700"/>
          </a:xfrm>
          <a:prstGeom xmlns:a="http://schemas.openxmlformats.org/drawingml/2006/main" prst="roundRect">
            <a:avLst>
              <a:gd name="adj" fmla="val 191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CC15C0-362C-4D46-B69B-7A1615C4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86250"/>
            <a:ext cx="1771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시범 체험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76534D-F25A-4E3A-A642-CEA51145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286250"/>
            <a:ext cx="499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서울·부산·창원 언어·친구 3건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09AAC2-0351-42B6-9299-4A5E60961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276725"/>
            <a:ext cx="31051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428A4C-57F7-4229-BD6E-B1D23A973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324350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Supabase 조회 + 앱 화면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A898B3-C7B7-42E3-A91E-3722D5AC5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FF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D49CC1-EE7B-498B-A0DD-7E399D907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91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9A3C3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425" b="1">
                <a:solidFill>
                  <a:srgbClr val="9A3C3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425" b="1">
                <a:solidFill>
                  <a:srgbClr val="9A3C3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425" b="1">
                <a:solidFill>
                  <a:srgbClr val="9A3C3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425" b="1">
                <a:solidFill>
                  <a:srgbClr val="9A3C3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425" b="1">
                <a:solidFill>
                  <a:srgbClr val="9A3C3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425" b="1">
                <a:solidFill>
                  <a:srgbClr val="9A3C3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425" b="1">
                <a:solidFill>
                  <a:srgbClr val="9A3C3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425" b="1">
                <a:solidFill>
                  <a:srgbClr val="9A3C3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425" b="1">
                <a:solidFill>
                  <a:srgbClr val="9A3C3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9A3C3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9A3C32"/>
                </a:solidFill>
                <a:latin typeface="Malgun Gothic"/>
                <a:ea typeface="Malgun Gothic"/>
                <a:cs typeface="Malgun Gothic"/>
              </a:rPr>
              <a:t>구현과 테스트 결과를 실제 운영 검증과 구분합니다. 실 사용자 평가와 피드백 반영은 진행 전입니다.</a:t>
            </a:r>
          </a:p>
        </p:txBody>
      </p:sp>
    </p:spTree>
    <p:extLst>
      <p:ext uri="{BB962C8B-B14F-4D97-AF65-F5344CB8AC3E}">
        <p14:creationId xmlns:p14="http://schemas.microsoft.com/office/powerpoint/2010/main" val="122745609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603310B-F7DC-4226-BF31-3E3538C88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OPEN RISKS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3049A4-1E3B-434B-8941-59247CBC1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운영으로 넘어가기 전에 해결할 6가지 리스크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1AA3BD-3974-424A-A51F-D3BDCC421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5334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9B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12505D-42A8-4218-9B4A-5EF9AECF7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LOCAL EUM  ·  기획과 구현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2B07B6-476A-45A8-BFF4-DCDA05225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10 / 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DBF0B9-CABE-4453-BA64-9FB235DC8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5219700" cy="104775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FF0ED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F216AB-CF8E-4DF7-B7E0-5D6E8A82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66675" cy="10477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06D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1FF3AD-08BB-4AB5-A0E6-2D329B6DD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480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가격·가치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4702B2-321B-469C-99B4-09957A56D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62175"/>
            <a:ext cx="48006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Busan 표기 0원. 무료/실비/가격가설 의도를 결정하고 호스트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4EC968-8908-4796-A56E-311A78D5B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57350"/>
            <a:ext cx="5219700" cy="104775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B1C0A2-B79F-4918-A9CE-7716271F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57350"/>
            <a:ext cx="66675" cy="10477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E78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4DFEB0-1205-41B9-9330-8AF686527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828800"/>
            <a:ext cx="480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진행 언어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974072-744A-4161-92E8-EE2795002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162175"/>
            <a:ext cx="48006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3개 체험 모두 HOST 언어 확인 필요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D16908-4977-4A28-BEB9-0D9A1E5E1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219700" cy="104775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FF0ED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FE255E-3C4C-48FA-B51A-62E30D231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66675" cy="10477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06D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2A27B8-538C-423F-87F7-2447BA780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86100"/>
            <a:ext cx="480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호스트 권한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F964F7-5CF9-4F30-AC1F-838A9FC5A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19475"/>
            <a:ext cx="48006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453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회차 생성·취소 일부 검증 기록; 교차 HOST·ADMIN 전체 검증은 제한적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43C997-E40E-404F-AB49-A29C5E4E4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14650"/>
            <a:ext cx="5219700" cy="104775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266A55-5756-4C7A-8939-8BE6EC0F7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14650"/>
            <a:ext cx="66675" cy="10477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E78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20378E-C9AE-465C-922E-BA9EC65C4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86100"/>
            <a:ext cx="480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결제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87C3EF-D8B0-4C36-8EF4-009396A1E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19475"/>
            <a:ext cx="48006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시연 안내만. 실제 결제·환불·정산 없음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30335F-A649-4A0E-9038-8964B0E3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5219700" cy="104775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A13687-3A9A-474A-81DC-51FFC7CF7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66675" cy="10477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E78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138D4B-9EA1-46E0-BBFB-5AC46FB0F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43400"/>
            <a:ext cx="480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AI 신뢰성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0B9664-E637-426B-83BF-20A94CF68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76775"/>
            <a:ext cx="48006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지역 corpus 규모·근거 최신성·가격 근거를 사람 검토 필요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C5BEC2-350F-417F-B998-EB08DCB44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71950"/>
            <a:ext cx="5219700" cy="104775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46CCD4-412D-4B2B-8EFD-C494ADA90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71950"/>
            <a:ext cx="66675" cy="10477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E78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F3EE2E-AA0E-4FE8-A485-B7A4E3F66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43400"/>
            <a:ext cx="480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출시 증거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8173DA-8C0C-4C40-A98C-BB8CA885A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676775"/>
            <a:ext cx="48006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외부 사용자 5명 이상 테스트와 사용 피드백 미완료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359AED-3DF2-4B0A-BCFB-8725A7E02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개발 방향  ·  체험 가치와 호스트 운영 조건을 작은 사용자 테스트로 확인</a:t>
            </a:r>
          </a:p>
        </p:txBody>
      </p:sp>
    </p:spTree>
    <p:extLst>
      <p:ext uri="{BB962C8B-B14F-4D97-AF65-F5344CB8AC3E}">
        <p14:creationId xmlns:p14="http://schemas.microsoft.com/office/powerpoint/2010/main" val="37063542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92C4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CD3B22-A2E9-475B-9CC9-09FC4363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rPr>
              <a:t>LOCAL EUM’S INTENTION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E2E74C-B3B0-4225-9061-7D7E401FA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관광지에서 사람으로, 정보에서 경험으로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14E8B6-456B-48E4-A5E7-29BD34DA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5334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3D1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2F6F77-DE5B-4762-8404-26582156B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rPr>
              <a:t>LOCAL EUM  ·  기획과 구현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19E2DB-DAD2-498F-BF17-FD8D14D5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B8C9D7"/>
                </a:solidFill>
                <a:latin typeface="Malgun Gothic"/>
                <a:ea typeface="Malgun Gothic"/>
                <a:cs typeface="Malgun Gothic"/>
              </a:rPr>
              <a:t>11 / 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06FA7C-6D59-4F5F-928B-FDDC6B0DB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6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기존 여행 서비스가 주로 어디를 방문하고 무엇을 볼 것인지에 집중한다면, 로컬이음은 그곳에서 누구를 만나고 무엇을 함께 경험할 수 있는가라는 질문에서 출발했습니다.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2D6981-5CFD-41E0-9845-E0715EBD9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5334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3D1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C69F6E-1E62-42B4-B146-013EDCF76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6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국내외 여행자가 지역 주민과 시장을 걷고, 음식을 나누고, 언어와 문화를 교류하며 평범한 일상 속에서 특별한 경험을 발견하도록 연결하는 서비스입니다.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7AA44A-4600-4E95-9D51-BA37C756D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650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C7D6E2"/>
                </a:solidFill>
                <a:latin typeface="Malgun Gothic"/>
                <a:ea typeface="Malgun Gothic"/>
                <a:cs typeface="Malgun Gothic"/>
              </a:rPr>
              <a:t>지역 주민은 단순한 관광 안내자가 아니라 자신이 가진 이야기와 관심사로 여행 경험을 만드는 호스트가 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E65C05-7B7C-4198-B826-6B85A1FA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rPr>
              <a:t>“여행에서 만남으로, 만남에서 새로운 경험으로.”</a:t>
            </a:r>
          </a:p>
        </p:txBody>
      </p:sp>
    </p:spTree>
    <p:extLst>
      <p:ext uri="{BB962C8B-B14F-4D97-AF65-F5344CB8AC3E}">
        <p14:creationId xmlns:p14="http://schemas.microsoft.com/office/powerpoint/2010/main" val="121809540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289060-1F81-4467-A5D2-CC14F2908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06D5D"/>
                </a:solidFill>
                <a:latin typeface="Malgun Gothic"/>
                <a:ea typeface="Malgun Gothic"/>
                <a:cs typeface="Malgun Gothic"/>
              </a:rPr>
              <a:t>NEXT 2–4 WEEKS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FC824D-D355-4901-B7C0-366324CB1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로컬이음의 다음 개발 방향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D44306-F6A1-4266-89A0-43CF02356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5334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9B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FF8C04-F823-4564-9CF7-3F4C8C8FF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LOCAL EUM  ·  기획과 구현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734BF1-43E4-477F-9117-254CC4FC4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293A0"/>
                </a:solidFill>
                <a:latin typeface="Malgun Gothic"/>
                <a:ea typeface="Malgun Gothic"/>
                <a:cs typeface="Malgun Gothic"/>
              </a:rPr>
              <a:t>12 / 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B39D7F-A03D-4EAF-AA79-687436ACB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419350" cy="2152650"/>
          </a:xfrm>
          <a:prstGeom xmlns:a="http://schemas.openxmlformats.org/drawingml/2006/main" prst="roundRect">
            <a:avLst>
              <a:gd name="adj" fmla="val 7522"/>
            </a:avLst>
          </a:prstGeom>
          <a:solidFill xmlns:a="http://schemas.openxmlformats.org/drawingml/2006/main">
            <a:srgbClr val="FF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7EFC45-4432-4CDD-974E-3C0ED74E7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81200"/>
            <a:ext cx="3619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2C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795E58-1079-4036-B99F-E465BE983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28825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A01AD6-F810-4636-A9DD-5171D8C5D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43175"/>
            <a:ext cx="2038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운영 사실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561951-C259-4A98-8750-CFC1535A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48000"/>
            <a:ext cx="2038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호스트 진행 언어·회비·장소</a:t>
            </a:r>
          </a:p>
          <a:p xmlns:a="http://schemas.openxmlformats.org/drawingml/2006/main">
            <a: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회차 취소·신청 흐름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5800EC-88BA-460B-86F0-853CE3783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09750"/>
            <a:ext cx="2419350" cy="2152650"/>
          </a:xfrm>
          <a:prstGeom xmlns:a="http://schemas.openxmlformats.org/drawingml/2006/main" prst="roundRect">
            <a:avLst>
              <a:gd name="adj" fmla="val 7522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EDF2B9-AE05-421F-9326-9895E8D82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981200"/>
            <a:ext cx="3619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2C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A49E59-CF41-420F-931F-36DCB0252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28825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D11E37-C138-4A18-9595-9A7EC260F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543175"/>
            <a:ext cx="2038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5명 사용자 테스트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3ABB64-335D-44C6-9420-287F3830B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048000"/>
            <a:ext cx="2038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여행자 과제·소요 시간·혼동</a:t>
            </a:r>
          </a:p>
          <a:p xmlns:a="http://schemas.openxmlformats.org/drawingml/2006/main">
            <a: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피드백 1건 이상 반영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94A951-6739-47D2-9DE7-9912E89C1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09750"/>
            <a:ext cx="2419350" cy="2152650"/>
          </a:xfrm>
          <a:prstGeom xmlns:a="http://schemas.openxmlformats.org/drawingml/2006/main" prst="roundRect">
            <a:avLst>
              <a:gd name="adj" fmla="val 7522"/>
            </a:avLst>
          </a:prstGeom>
          <a:solidFill xmlns:a="http://schemas.openxmlformats.org/drawingml/2006/main">
            <a:srgbClr val="E6F4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E2C97F-F2EF-45F7-9B19-32A697D41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81200"/>
            <a:ext cx="3619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2C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E817F8-FABF-4AB2-815B-336E6591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28825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574098-FFFB-43FA-9BF5-2099353A8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543175"/>
            <a:ext cx="2038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Agent 평가 기준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D0FACC-9286-49D5-A7F0-FECBA213B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48000"/>
            <a:ext cx="2038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4 도구의 근거·오답·비용</a:t>
            </a:r>
          </a:p>
          <a:p xmlns:a="http://schemas.openxmlformats.org/drawingml/2006/main">
            <a: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실행 여부와 품질 분리 측정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4B53C2-A2F8-4158-84DD-1E7B8AD2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809750"/>
            <a:ext cx="2419350" cy="2152650"/>
          </a:xfrm>
          <a:prstGeom xmlns:a="http://schemas.openxmlformats.org/drawingml/2006/main" prst="roundRect">
            <a:avLst>
              <a:gd name="adj" fmla="val 7522"/>
            </a:avLst>
          </a:prstGeom>
          <a:solidFill xmlns:a="http://schemas.openxmlformats.org/drawingml/2006/main">
            <a:srgbClr val="FFF7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A1CFEE-0FA7-4291-95CF-BB53A626B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981200"/>
            <a:ext cx="3619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2C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F1F7DA-EC86-4D8C-A31C-3326F9EC3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028825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51B043-B37A-438D-B05B-D47137A5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43175"/>
            <a:ext cx="2038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92C40"/>
                </a:solidFill>
                <a:latin typeface="Malgun Gothic"/>
                <a:ea typeface="Malgun Gothic"/>
                <a:cs typeface="Malgun Gothic"/>
              </a:rPr>
              <a:t>공개 운영 준비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A9DBB3-80F5-4F87-9CF2-A749B37B6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48000"/>
            <a:ext cx="2038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장소·안내 정보 확인</a:t>
            </a:r>
          </a:p>
          <a:p xmlns:a="http://schemas.openxmlformats.org/drawingml/2006/main">
            <a:pPr algn="l">
              <a:def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23384D"/>
                </a:solidFill>
                <a:latin typeface="Malgun Gothic"/>
                <a:ea typeface="Malgun Gothic"/>
                <a:cs typeface="Malgun Gothic"/>
              </a:rPr>
              <a:t>시연 데이터 운영 전환 검토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05D6AB-A0F8-4056-ACE7-E2BE4B27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10972800" cy="1143000"/>
          </a:xfrm>
          <a:prstGeom xmlns:a="http://schemas.openxmlformats.org/drawingml/2006/main" prst="roundRect">
            <a:avLst>
              <a:gd name="adj" fmla="val 14167"/>
            </a:avLst>
          </a:prstGeom>
          <a:solidFill xmlns:a="http://schemas.openxmlformats.org/drawingml/2006/main">
            <a:srgbClr val="192C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90E45A-45F4-4E31-A498-CBD661010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48200"/>
            <a:ext cx="1038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73D1CC"/>
                </a:solidFill>
                <a:latin typeface="Malgun Gothic"/>
                <a:ea typeface="Malgun Gothic"/>
                <a:cs typeface="Malgun Gothic"/>
              </a:rPr>
              <a:t>기획 의도를 이어갈 개발 방향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988EE7-2C3D-4085-96BB-4CC8B97B0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57775"/>
            <a:ext cx="1038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호스트가 운영하고 여행자가 만족하는 체험을 위해</a:t>
            </a:r>
          </a:p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운영 조건과 사용자 반응을 단계적으로 확인합니다.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36DC47-38A9-4F3A-A7E3-F8CBEDFFA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2768A"/>
                </a:solidFill>
                <a:latin typeface="Malgun Gothic"/>
                <a:ea typeface="Malgun Gothic"/>
                <a:cs typeface="Malgun Gothic"/>
              </a:rPr>
              <a:t>지역의 일상과 호스트의 이야기가 여행자의 기억으로 이어지는 서비스로 발전시킵니다.</a:t>
            </a:r>
          </a:p>
        </p:txBody>
      </p:sp>
    </p:spTree>
    <p:extLst>
      <p:ext uri="{BB962C8B-B14F-4D97-AF65-F5344CB8AC3E}">
        <p14:creationId xmlns:p14="http://schemas.microsoft.com/office/powerpoint/2010/main" val="2270457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2026-10-20T14:28:31.8630000Z</dcterms:created>
  <dcterms:modified xsi:type="dcterms:W3CDTF">2026-10-20T14:28:31.8630000Z</dcterms:modified>
</coreProperties>
</file>